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 snapToObjects="1">
      <p:cViewPr>
        <p:scale>
          <a:sx n="41" d="100"/>
          <a:sy n="41" d="100"/>
        </p:scale>
        <p:origin x="1192" y="-13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84FED3-CCE8-D64F-AE11-CE64D9882394}" type="datetimeFigureOut">
              <a:rPr kumimoji="1" lang="zh-CN" altLang="en-US" smtClean="0"/>
              <a:t>2026/6/22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55A5D-DC95-D04F-98CD-D7F38386630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9008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55A5D-DC95-D04F-98CD-D7F38386630C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08447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trongerOK777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87" y="-20650"/>
            <a:ext cx="30276000" cy="42804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4423" y="250476"/>
            <a:ext cx="20160000" cy="336858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/>
            <a:r>
              <a:rPr sz="2000" b="1" dirty="0">
                <a:solidFill>
                  <a:srgbClr val="0C8074"/>
                </a:solidFill>
                <a:latin typeface="DejaVu Sans Mono"/>
                <a:ea typeface="DejaVu Sans Mono"/>
              </a:rPr>
              <a:t>C++ &amp; Qt DEVELOPER-TOOL · TECHNICAL INFOGRAPHIC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423" y="749334"/>
            <a:ext cx="25920000" cy="1937296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/>
            <a:r>
              <a:rPr sz="12400" b="1" dirty="0" err="1">
                <a:solidFill>
                  <a:srgbClr val="007ACC"/>
                </a:solidFill>
                <a:latin typeface="Noto Sans CJK SC"/>
                <a:ea typeface="Noto Sans CJK SC"/>
              </a:rPr>
              <a:t>Image</a:t>
            </a:r>
            <a:r>
              <a:rPr sz="12400" b="1" dirty="0" err="1">
                <a:solidFill>
                  <a:srgbClr val="0F1E33"/>
                </a:solidFill>
                <a:latin typeface="Noto Sans CJK SC"/>
                <a:ea typeface="Noto Sans CJK SC"/>
              </a:rPr>
              <a:t>Node</a:t>
            </a:r>
            <a:r>
              <a:rPr sz="12400" b="1" dirty="0" err="1">
                <a:solidFill>
                  <a:srgbClr val="0C8074"/>
                </a:solidFill>
                <a:latin typeface="Noto Sans CJK SC"/>
                <a:ea typeface="Noto Sans CJK SC"/>
              </a:rPr>
              <a:t>Editor</a:t>
            </a:r>
            <a:endParaRPr sz="12400" b="1" dirty="0">
              <a:solidFill>
                <a:srgbClr val="0C8074"/>
              </a:solidFill>
              <a:latin typeface="Noto Sans CJK SC"/>
              <a:ea typeface="Noto Sans CJK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2713" y="3237350"/>
            <a:ext cx="23400000" cy="504000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/>
            <a:r>
              <a:rPr sz="3000" b="1" dirty="0" err="1">
                <a:solidFill>
                  <a:srgbClr val="0F1E33"/>
                </a:solidFill>
                <a:latin typeface="Noto Sans CJK SC"/>
                <a:ea typeface="Noto Sans CJK SC"/>
              </a:rPr>
              <a:t>节点式图像处理工作流工具</a:t>
            </a:r>
            <a:r>
              <a:rPr sz="3000" b="1" dirty="0">
                <a:solidFill>
                  <a:srgbClr val="0F1E33"/>
                </a:solidFill>
                <a:latin typeface="Noto Sans CJK SC"/>
                <a:ea typeface="Noto Sans CJK SC"/>
              </a:rPr>
              <a:t> · </a:t>
            </a:r>
            <a:r>
              <a:rPr sz="3000" b="1" dirty="0" err="1">
                <a:solidFill>
                  <a:srgbClr val="0F1E33"/>
                </a:solidFill>
                <a:latin typeface="Noto Sans CJK SC"/>
                <a:ea typeface="Noto Sans CJK SC"/>
              </a:rPr>
              <a:t>期末报告</a:t>
            </a:r>
            <a:endParaRPr sz="3000" b="1" dirty="0">
              <a:solidFill>
                <a:srgbClr val="0F1E33"/>
              </a:solidFill>
              <a:latin typeface="Noto Sans CJK SC"/>
              <a:ea typeface="Noto Sans CJK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68423" y="4605350"/>
            <a:ext cx="3600000" cy="3600000"/>
          </a:xfrm>
          <a:prstGeom prst="roundRect">
            <a:avLst>
              <a:gd name="adj" fmla="val 6000"/>
            </a:avLst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8423" y="5698314"/>
            <a:ext cx="3600000" cy="1414076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ctr"/>
            <a:r>
              <a:rPr sz="5400" b="1" dirty="0">
                <a:solidFill>
                  <a:srgbClr val="FFFFFF"/>
                </a:solidFill>
                <a:latin typeface="Noto Sans CJK SC"/>
                <a:ea typeface="Noto Sans CJK SC"/>
              </a:rPr>
              <a:t>ABSTRACT</a:t>
            </a:r>
          </a:p>
          <a:p>
            <a:pPr algn="ctr"/>
            <a:r>
              <a:rPr sz="3600" b="1" dirty="0" err="1">
                <a:solidFill>
                  <a:srgbClr val="FFFFFF"/>
                </a:solidFill>
                <a:latin typeface="Noto Sans CJK SC"/>
                <a:ea typeface="Noto Sans CJK SC"/>
              </a:rPr>
              <a:t>项目简介</a:t>
            </a:r>
            <a:endParaRPr sz="3600" b="1" dirty="0">
              <a:solidFill>
                <a:srgbClr val="FFFFFF"/>
              </a:solidFill>
              <a:latin typeface="Noto Sans CJK SC"/>
              <a:ea typeface="Noto Sans CJK SC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12423" y="4605350"/>
            <a:ext cx="25380000" cy="36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6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64423" y="4992831"/>
            <a:ext cx="24876000" cy="2825039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ImageNodeEditor</a:t>
            </a:r>
            <a:r>
              <a:rPr sz="3200" b="0" dirty="0">
                <a:solidFill>
                  <a:srgbClr val="2B3952"/>
                </a:solidFill>
                <a:latin typeface="Noto Sans CJK SC"/>
                <a:ea typeface="Noto Sans CJK SC"/>
              </a:rPr>
              <a:t> </a:t>
            </a:r>
            <a:r>
              <a:rPr sz="32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是一款桌面端节点式图像处理工作流工具，思路与</a:t>
            </a:r>
            <a:r>
              <a:rPr sz="3200" b="0" dirty="0">
                <a:solidFill>
                  <a:srgbClr val="2B3952"/>
                </a:solidFill>
                <a:latin typeface="Noto Sans CJK SC"/>
                <a:ea typeface="Noto Sans CJK SC"/>
              </a:rPr>
              <a:t> Scratch / </a:t>
            </a:r>
            <a:r>
              <a:rPr sz="32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蓝图编辑器相通：把读图、裁切、缩放、调色、滤波、文字叠加、预览、导出等操作做成可视化「节点</a:t>
            </a:r>
            <a:r>
              <a:rPr sz="3200" b="0" dirty="0">
                <a:solidFill>
                  <a:srgbClr val="2B3952"/>
                </a:solidFill>
                <a:latin typeface="Noto Sans CJK SC"/>
                <a:ea typeface="Noto Sans CJK SC"/>
              </a:rPr>
              <a:t>」，</a:t>
            </a:r>
            <a:r>
              <a:rPr sz="32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在画布上拖拽连线、修改参数即可像搭积木一样拼出一条处理流程，一键执行、实时预览，并把流程存成</a:t>
            </a:r>
            <a:r>
              <a:rPr sz="3200" b="0" dirty="0">
                <a:solidFill>
                  <a:srgbClr val="2B3952"/>
                </a:solidFill>
                <a:latin typeface="Noto Sans CJK SC"/>
                <a:ea typeface="Noto Sans CJK SC"/>
              </a:rPr>
              <a:t> JSON </a:t>
            </a:r>
            <a:r>
              <a:rPr sz="32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配方下次复用。内置</a:t>
            </a:r>
            <a:r>
              <a:rPr sz="3200" b="0" dirty="0">
                <a:solidFill>
                  <a:srgbClr val="2B3952"/>
                </a:solidFill>
                <a:latin typeface="Noto Sans CJK SC"/>
                <a:ea typeface="Noto Sans CJK SC"/>
              </a:rPr>
              <a:t> 27 </a:t>
            </a:r>
            <a:r>
              <a:rPr sz="32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种处理节点</a:t>
            </a:r>
            <a:r>
              <a:rPr sz="3200" b="0" dirty="0">
                <a:solidFill>
                  <a:srgbClr val="2B3952"/>
                </a:solidFill>
                <a:latin typeface="Noto Sans CJK SC"/>
                <a:ea typeface="Noto Sans CJK SC"/>
              </a:rPr>
              <a:t> + 1 </a:t>
            </a:r>
            <a:r>
              <a:rPr sz="32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个宏节点，覆盖输入输出、几何变换、色彩、滤波、合成、批量六大类；执行前自动校验端口</a:t>
            </a:r>
            <a:r>
              <a:rPr sz="3200" b="0" dirty="0">
                <a:solidFill>
                  <a:srgbClr val="2B3952"/>
                </a:solidFill>
                <a:latin typeface="Noto Sans CJK SC"/>
                <a:ea typeface="Noto Sans CJK SC"/>
              </a:rPr>
              <a:t> / </a:t>
            </a:r>
            <a:r>
              <a:rPr sz="32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类型</a:t>
            </a:r>
            <a:r>
              <a:rPr sz="3200" b="0" dirty="0">
                <a:solidFill>
                  <a:srgbClr val="2B3952"/>
                </a:solidFill>
                <a:latin typeface="Noto Sans CJK SC"/>
                <a:ea typeface="Noto Sans CJK SC"/>
              </a:rPr>
              <a:t> / </a:t>
            </a:r>
            <a:r>
              <a:rPr sz="32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必填</a:t>
            </a:r>
            <a:r>
              <a:rPr sz="3200" b="0" dirty="0">
                <a:solidFill>
                  <a:srgbClr val="2B3952"/>
                </a:solidFill>
                <a:latin typeface="Noto Sans CJK SC"/>
                <a:ea typeface="Noto Sans CJK SC"/>
              </a:rPr>
              <a:t> / DAG </a:t>
            </a:r>
            <a:r>
              <a:rPr sz="32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并拓扑排序，出错返回明确中文提示而非崩溃。图形界面（GUI）与命令行</a:t>
            </a:r>
            <a:r>
              <a:rPr sz="3200" b="0" dirty="0">
                <a:solidFill>
                  <a:srgbClr val="2B3952"/>
                </a:solidFill>
                <a:latin typeface="Noto Sans CJK SC"/>
                <a:ea typeface="Noto Sans CJK SC"/>
              </a:rPr>
              <a:t> </a:t>
            </a:r>
            <a:r>
              <a:rPr sz="32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picdeal</a:t>
            </a:r>
            <a:r>
              <a:rPr sz="3200" b="0" dirty="0">
                <a:solidFill>
                  <a:srgbClr val="2B3952"/>
                </a:solidFill>
                <a:latin typeface="Noto Sans CJK SC"/>
                <a:ea typeface="Noto Sans CJK SC"/>
              </a:rPr>
              <a:t> </a:t>
            </a:r>
            <a:r>
              <a:rPr sz="32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共用同一套核心（图结构·校验·执行引擎·节点工厂</a:t>
            </a:r>
            <a:r>
              <a:rPr sz="3200" b="0" dirty="0">
                <a:solidFill>
                  <a:srgbClr val="2B3952"/>
                </a:solidFill>
                <a:latin typeface="Noto Sans CJK SC"/>
                <a:ea typeface="Noto Sans CJK SC"/>
              </a:rPr>
              <a:t>），</a:t>
            </a:r>
            <a:r>
              <a:rPr sz="32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行为完全一致；基础功能仅依赖</a:t>
            </a:r>
            <a:r>
              <a:rPr sz="3200" b="0" dirty="0">
                <a:solidFill>
                  <a:srgbClr val="2B3952"/>
                </a:solidFill>
                <a:latin typeface="Noto Sans CJK SC"/>
                <a:ea typeface="Noto Sans CJK SC"/>
              </a:rPr>
              <a:t> Qt </a:t>
            </a:r>
            <a:r>
              <a:rPr sz="32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自带能力（QImage</a:t>
            </a:r>
            <a:r>
              <a:rPr sz="3200" b="0" dirty="0">
                <a:solidFill>
                  <a:srgbClr val="2B3952"/>
                </a:solidFill>
                <a:latin typeface="Noto Sans CJK SC"/>
                <a:ea typeface="Noto Sans CJK SC"/>
              </a:rPr>
              <a:t> / </a:t>
            </a:r>
            <a:r>
              <a:rPr sz="32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QPainter</a:t>
            </a:r>
            <a:r>
              <a:rPr sz="3200" b="0" dirty="0">
                <a:solidFill>
                  <a:srgbClr val="2B3952"/>
                </a:solidFill>
                <a:latin typeface="Noto Sans CJK SC"/>
                <a:ea typeface="Noto Sans CJK SC"/>
              </a:rPr>
              <a:t>），</a:t>
            </a:r>
            <a:r>
              <a:rPr sz="32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未引入</a:t>
            </a:r>
            <a:r>
              <a:rPr sz="3200" b="0" dirty="0">
                <a:solidFill>
                  <a:srgbClr val="2B3952"/>
                </a:solidFill>
                <a:latin typeface="Noto Sans CJK SC"/>
                <a:ea typeface="Noto Sans CJK SC"/>
              </a:rPr>
              <a:t> OpenCV </a:t>
            </a:r>
            <a:r>
              <a:rPr sz="32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等重型依赖</a:t>
            </a:r>
            <a:r>
              <a:rPr sz="3200" b="0" dirty="0">
                <a:solidFill>
                  <a:srgbClr val="2B3952"/>
                </a:solidFill>
                <a:latin typeface="Noto Sans CJK SC"/>
                <a:ea typeface="Noto Sans CJK SC"/>
              </a:rPr>
              <a:t>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423" y="8493350"/>
            <a:ext cx="12816000" cy="25560000"/>
          </a:xfrm>
          <a:prstGeom prst="roundRect">
            <a:avLst>
              <a:gd name="adj" fmla="val 2000"/>
            </a:avLst>
          </a:prstGeom>
          <a:solidFill>
            <a:srgbClr val="FAFCFE"/>
          </a:solidFill>
          <a:ln w="12700">
            <a:solidFill>
              <a:srgbClr val="C6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2423" y="8709350"/>
            <a:ext cx="12168000" cy="396000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/>
            <a:r>
              <a:rPr sz="2700" b="1" dirty="0">
                <a:solidFill>
                  <a:srgbClr val="0F1E33"/>
                </a:solidFill>
                <a:latin typeface="Noto Sans CJK SC"/>
                <a:ea typeface="Noto Sans CJK SC"/>
              </a:rPr>
              <a:t>LIVE WORKBENCH</a:t>
            </a:r>
            <a:r>
              <a:rPr sz="1600" b="1" dirty="0">
                <a:solidFill>
                  <a:srgbClr val="0C8074"/>
                </a:solidFill>
                <a:latin typeface="Noto Sans CJK SC"/>
                <a:ea typeface="Noto Sans CJK SC"/>
              </a:rPr>
              <a:t>   </a:t>
            </a:r>
            <a:r>
              <a:rPr sz="1600" b="1" dirty="0" err="1">
                <a:solidFill>
                  <a:srgbClr val="0C8074"/>
                </a:solidFill>
                <a:latin typeface="Noto Sans CJK SC"/>
                <a:ea typeface="Noto Sans CJK SC"/>
              </a:rPr>
              <a:t>软件主视觉</a:t>
            </a:r>
            <a:endParaRPr sz="1600" b="1" dirty="0">
              <a:solidFill>
                <a:srgbClr val="0C8074"/>
              </a:solidFill>
              <a:latin typeface="Noto Sans CJK SC"/>
              <a:ea typeface="Noto Sans CJK SC"/>
            </a:endParaRPr>
          </a:p>
        </p:txBody>
      </p:sp>
      <p:pic>
        <p:nvPicPr>
          <p:cNvPr id="14" name="Picture 13" descr="03-exec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23" y="9285350"/>
            <a:ext cx="3912000" cy="236660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92423" y="9285350"/>
            <a:ext cx="3912000" cy="2366606"/>
          </a:xfrm>
          <a:prstGeom prst="rect">
            <a:avLst/>
          </a:prstGeom>
          <a:noFill/>
          <a:ln w="9525">
            <a:solidFill>
              <a:srgbClr val="C6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2423" y="11669956"/>
            <a:ext cx="3912000" cy="216000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ctr"/>
            <a:r>
              <a:rPr sz="1100" b="0">
                <a:solidFill>
                  <a:srgbClr val="556680"/>
                </a:solidFill>
                <a:latin typeface="DejaVu Sans Mono"/>
                <a:ea typeface="DejaVu Sans Mono"/>
              </a:rPr>
              <a:t>执行后输出缩略图</a:t>
            </a:r>
          </a:p>
        </p:txBody>
      </p:sp>
      <p:pic>
        <p:nvPicPr>
          <p:cNvPr id="17" name="Picture 16" descr="01-workbe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0423" y="9285350"/>
            <a:ext cx="3912000" cy="236660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920423" y="9285350"/>
            <a:ext cx="3912000" cy="2366606"/>
          </a:xfrm>
          <a:prstGeom prst="rect">
            <a:avLst/>
          </a:prstGeom>
          <a:noFill/>
          <a:ln w="9525">
            <a:solidFill>
              <a:srgbClr val="C6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20423" y="11669956"/>
            <a:ext cx="3912000" cy="216000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ctr"/>
            <a:r>
              <a:rPr sz="1100" b="0">
                <a:solidFill>
                  <a:srgbClr val="556680"/>
                </a:solidFill>
                <a:latin typeface="DejaVu Sans Mono"/>
                <a:ea typeface="DejaVu Sans Mono"/>
              </a:rPr>
              <a:t>主界面·节点库</a:t>
            </a:r>
          </a:p>
        </p:txBody>
      </p:sp>
      <p:pic>
        <p:nvPicPr>
          <p:cNvPr id="20" name="Picture 19" descr="02-work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423" y="9285350"/>
            <a:ext cx="3912000" cy="2366606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048423" y="9285350"/>
            <a:ext cx="3912000" cy="2366606"/>
          </a:xfrm>
          <a:prstGeom prst="rect">
            <a:avLst/>
          </a:prstGeom>
          <a:noFill/>
          <a:ln w="9525">
            <a:solidFill>
              <a:srgbClr val="C6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48423" y="11669956"/>
            <a:ext cx="3912000" cy="216000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ctr"/>
            <a:r>
              <a:rPr sz="1100" b="0">
                <a:solidFill>
                  <a:srgbClr val="556680"/>
                </a:solidFill>
                <a:latin typeface="DejaVu Sans Mono"/>
                <a:ea typeface="DejaVu Sans Mono"/>
              </a:rPr>
              <a:t>搭建工作流·连线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423" y="11975956"/>
            <a:ext cx="12168000" cy="4644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6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92423" y="11975956"/>
            <a:ext cx="12168000" cy="1080000"/>
          </a:xfrm>
          <a:prstGeom prst="roundRect">
            <a:avLst>
              <a:gd name="adj" fmla="val 5000"/>
            </a:avLst>
          </a:prstGeom>
          <a:solidFill>
            <a:srgbClr val="0E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92423" y="12515956"/>
            <a:ext cx="12168000" cy="540000"/>
          </a:xfrm>
          <a:prstGeom prst="rect">
            <a:avLst/>
          </a:prstGeom>
          <a:solidFill>
            <a:srgbClr val="0E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80423" y="11975956"/>
            <a:ext cx="11592000" cy="1080000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</a:rPr>
              <a:t>WORKBENCH LAYOUT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0423" y="11975956"/>
            <a:ext cx="11736000" cy="1080000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</a:rPr>
              <a:t>界面布局 · 类 VS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423" y="13145956"/>
            <a:ext cx="11736000" cy="3220211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1" dirty="0" err="1">
                <a:solidFill>
                  <a:srgbClr val="0F1E33"/>
                </a:solidFill>
                <a:latin typeface="Noto Sans CJK SC"/>
                <a:ea typeface="Noto Sans CJK SC"/>
              </a:rPr>
              <a:t>标题栏</a:t>
            </a:r>
            <a:r>
              <a:rPr sz="2400" b="1" dirty="0">
                <a:solidFill>
                  <a:srgbClr val="0F1E33"/>
                </a:solidFill>
                <a:latin typeface="Noto Sans CJK SC"/>
                <a:ea typeface="Noto Sans CJK SC"/>
              </a:rPr>
              <a:t> / </a:t>
            </a:r>
            <a:r>
              <a:rPr sz="2400" b="1" dirty="0" err="1">
                <a:solidFill>
                  <a:srgbClr val="0F1E33"/>
                </a:solidFill>
                <a:latin typeface="Noto Sans CJK SC"/>
                <a:ea typeface="Noto Sans CJK SC"/>
              </a:rPr>
              <a:t>菜单</a:t>
            </a:r>
            <a:r>
              <a:rPr sz="2400" b="1" dirty="0">
                <a:solidFill>
                  <a:srgbClr val="0F1E33"/>
                </a:solidFill>
                <a:latin typeface="Noto Sans CJK SC"/>
                <a:ea typeface="Noto Sans CJK SC"/>
              </a:rPr>
              <a:t>  </a:t>
            </a:r>
            <a:r>
              <a:rPr sz="20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文件·编辑·节点操作·视图·设置·布局；前进</a:t>
            </a:r>
            <a:r>
              <a:rPr sz="2000" b="0" dirty="0">
                <a:solidFill>
                  <a:srgbClr val="556680"/>
                </a:solidFill>
                <a:latin typeface="Noto Sans CJK SC"/>
                <a:ea typeface="Noto Sans CJK SC"/>
              </a:rPr>
              <a:t>/</a:t>
            </a:r>
            <a:r>
              <a:rPr sz="20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后退、执行·预览·面板·窗口按钮</a:t>
            </a:r>
            <a:endParaRPr sz="2000" b="0" dirty="0">
              <a:solidFill>
                <a:srgbClr val="556680"/>
              </a:solidFill>
              <a:latin typeface="Noto Sans CJK SC"/>
              <a:ea typeface="Noto Sans CJK SC"/>
            </a:endParaRPr>
          </a:p>
          <a:p>
            <a:pPr algn="l">
              <a:lnSpc>
                <a:spcPct val="128000"/>
              </a:lnSpc>
            </a:pPr>
            <a:r>
              <a:rPr sz="2400" b="1" dirty="0" err="1">
                <a:solidFill>
                  <a:srgbClr val="0F1E33"/>
                </a:solidFill>
                <a:latin typeface="Noto Sans CJK SC"/>
                <a:ea typeface="Noto Sans CJK SC"/>
              </a:rPr>
              <a:t>活动栏（最左竖排</a:t>
            </a:r>
            <a:r>
              <a:rPr sz="2400" b="1" dirty="0">
                <a:solidFill>
                  <a:srgbClr val="0F1E33"/>
                </a:solidFill>
                <a:latin typeface="Noto Sans CJK SC"/>
                <a:ea typeface="Noto Sans CJK SC"/>
              </a:rPr>
              <a:t>）  </a:t>
            </a:r>
            <a:r>
              <a:rPr sz="20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节点库·工作流大纲·方案库·进度记录·搜索快速访问·问题·运行诊断；底部</a:t>
            </a:r>
            <a:r>
              <a:rPr sz="2000" b="0" dirty="0">
                <a:solidFill>
                  <a:srgbClr val="556680"/>
                </a:solidFill>
                <a:latin typeface="Noto Sans CJK SC"/>
                <a:ea typeface="Noto Sans CJK SC"/>
              </a:rPr>
              <a:t> </a:t>
            </a:r>
            <a:r>
              <a:rPr sz="20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命令面板</a:t>
            </a:r>
            <a:r>
              <a:rPr sz="2000" b="0" dirty="0">
                <a:solidFill>
                  <a:srgbClr val="556680"/>
                </a:solidFill>
                <a:latin typeface="Noto Sans CJK SC"/>
                <a:ea typeface="Noto Sans CJK SC"/>
              </a:rPr>
              <a:t>/</a:t>
            </a:r>
            <a:r>
              <a:rPr sz="20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预览</a:t>
            </a:r>
            <a:r>
              <a:rPr sz="2000" b="0" dirty="0">
                <a:solidFill>
                  <a:srgbClr val="556680"/>
                </a:solidFill>
                <a:latin typeface="Noto Sans CJK SC"/>
                <a:ea typeface="Noto Sans CJK SC"/>
              </a:rPr>
              <a:t>/</a:t>
            </a:r>
            <a:r>
              <a:rPr sz="20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设置</a:t>
            </a:r>
            <a:endParaRPr sz="2000" b="0" dirty="0">
              <a:solidFill>
                <a:srgbClr val="556680"/>
              </a:solidFill>
              <a:latin typeface="Noto Sans CJK SC"/>
              <a:ea typeface="Noto Sans CJK SC"/>
            </a:endParaRPr>
          </a:p>
          <a:p>
            <a:pPr algn="l">
              <a:lnSpc>
                <a:spcPct val="128000"/>
              </a:lnSpc>
            </a:pPr>
            <a:r>
              <a:rPr sz="2400" b="1" dirty="0" err="1">
                <a:solidFill>
                  <a:srgbClr val="0F1E33"/>
                </a:solidFill>
                <a:latin typeface="Noto Sans CJK SC"/>
                <a:ea typeface="Noto Sans CJK SC"/>
              </a:rPr>
              <a:t>左侧栏</a:t>
            </a:r>
            <a:r>
              <a:rPr sz="2400" b="1" dirty="0">
                <a:solidFill>
                  <a:srgbClr val="0F1E33"/>
                </a:solidFill>
                <a:latin typeface="Noto Sans CJK SC"/>
                <a:ea typeface="Noto Sans CJK SC"/>
              </a:rPr>
              <a:t>  </a:t>
            </a:r>
            <a:r>
              <a:rPr sz="20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跟随活动栏切换，最常用「节点库」可搜索、拖拽添加节点</a:t>
            </a:r>
            <a:endParaRPr sz="2000" b="0" dirty="0">
              <a:solidFill>
                <a:srgbClr val="556680"/>
              </a:solidFill>
              <a:latin typeface="Noto Sans CJK SC"/>
              <a:ea typeface="Noto Sans CJK SC"/>
            </a:endParaRPr>
          </a:p>
          <a:p>
            <a:pPr algn="l">
              <a:lnSpc>
                <a:spcPct val="128000"/>
              </a:lnSpc>
            </a:pPr>
            <a:r>
              <a:rPr sz="2400" b="1" dirty="0" err="1">
                <a:solidFill>
                  <a:srgbClr val="0F1E33"/>
                </a:solidFill>
                <a:latin typeface="Noto Sans CJK SC"/>
                <a:ea typeface="Noto Sans CJK SC"/>
              </a:rPr>
              <a:t>中央画布</a:t>
            </a:r>
            <a:r>
              <a:rPr sz="2400" b="1" dirty="0">
                <a:solidFill>
                  <a:srgbClr val="0F1E33"/>
                </a:solidFill>
                <a:latin typeface="Noto Sans CJK SC"/>
                <a:ea typeface="Noto Sans CJK SC"/>
              </a:rPr>
              <a:t>  </a:t>
            </a:r>
            <a:r>
              <a:rPr sz="20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摆放节点与连线，顶部画布标签条</a:t>
            </a:r>
            <a:r>
              <a:rPr sz="2000" b="0" dirty="0">
                <a:solidFill>
                  <a:srgbClr val="556680"/>
                </a:solidFill>
                <a:latin typeface="Noto Sans CJK SC"/>
                <a:ea typeface="Noto Sans CJK SC"/>
              </a:rPr>
              <a:t> + </a:t>
            </a:r>
            <a:r>
              <a:rPr sz="20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宏层级面包屑</a:t>
            </a:r>
            <a:endParaRPr sz="2000" b="0" dirty="0">
              <a:solidFill>
                <a:srgbClr val="556680"/>
              </a:solidFill>
              <a:latin typeface="Noto Sans CJK SC"/>
              <a:ea typeface="Noto Sans CJK SC"/>
            </a:endParaRPr>
          </a:p>
          <a:p>
            <a:pPr algn="l">
              <a:lnSpc>
                <a:spcPct val="128000"/>
              </a:lnSpc>
            </a:pPr>
            <a:r>
              <a:rPr sz="2400" b="1" dirty="0" err="1">
                <a:solidFill>
                  <a:srgbClr val="0F1E33"/>
                </a:solidFill>
                <a:latin typeface="Noto Sans CJK SC"/>
                <a:ea typeface="Noto Sans CJK SC"/>
              </a:rPr>
              <a:t>右侧预览</a:t>
            </a:r>
            <a:r>
              <a:rPr sz="2400" b="1" dirty="0">
                <a:solidFill>
                  <a:srgbClr val="0F1E33"/>
                </a:solidFill>
                <a:latin typeface="Noto Sans CJK SC"/>
                <a:ea typeface="Noto Sans CJK SC"/>
              </a:rPr>
              <a:t>  </a:t>
            </a:r>
            <a:r>
              <a:rPr sz="20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选中节点或最终输出，适应窗口、点击放大、像素取色</a:t>
            </a:r>
            <a:endParaRPr sz="2000" b="0" dirty="0">
              <a:solidFill>
                <a:srgbClr val="556680"/>
              </a:solidFill>
              <a:latin typeface="Noto Sans CJK SC"/>
              <a:ea typeface="Noto Sans CJK SC"/>
            </a:endParaRPr>
          </a:p>
          <a:p>
            <a:pPr algn="l">
              <a:lnSpc>
                <a:spcPct val="128000"/>
              </a:lnSpc>
            </a:pPr>
            <a:r>
              <a:rPr sz="2400" b="1" dirty="0" err="1">
                <a:solidFill>
                  <a:srgbClr val="0F1E33"/>
                </a:solidFill>
                <a:latin typeface="Noto Sans CJK SC"/>
                <a:ea typeface="Noto Sans CJK SC"/>
              </a:rPr>
              <a:t>底部面板</a:t>
            </a:r>
            <a:r>
              <a:rPr sz="2400" b="1" dirty="0">
                <a:solidFill>
                  <a:srgbClr val="0F1E33"/>
                </a:solidFill>
                <a:latin typeface="Noto Sans CJK SC"/>
                <a:ea typeface="Noto Sans CJK SC"/>
              </a:rPr>
              <a:t> + </a:t>
            </a:r>
            <a:r>
              <a:rPr sz="2400" b="1" dirty="0" err="1">
                <a:solidFill>
                  <a:srgbClr val="0F1E33"/>
                </a:solidFill>
                <a:latin typeface="Noto Sans CJK SC"/>
                <a:ea typeface="Noto Sans CJK SC"/>
              </a:rPr>
              <a:t>状态栏</a:t>
            </a:r>
            <a:r>
              <a:rPr sz="2400" b="1" dirty="0">
                <a:solidFill>
                  <a:srgbClr val="0F1E33"/>
                </a:solidFill>
                <a:latin typeface="Noto Sans CJK SC"/>
                <a:ea typeface="Noto Sans CJK SC"/>
              </a:rPr>
              <a:t>  </a:t>
            </a:r>
            <a:r>
              <a:rPr sz="20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终端</a:t>
            </a:r>
            <a:r>
              <a:rPr sz="2000" b="0" dirty="0">
                <a:solidFill>
                  <a:srgbClr val="556680"/>
                </a:solidFill>
                <a:latin typeface="Noto Sans CJK SC"/>
                <a:ea typeface="Noto Sans CJK SC"/>
              </a:rPr>
              <a:t> / </a:t>
            </a:r>
            <a:r>
              <a:rPr sz="20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问题</a:t>
            </a:r>
            <a:r>
              <a:rPr sz="2000" b="0" dirty="0">
                <a:solidFill>
                  <a:srgbClr val="556680"/>
                </a:solidFill>
                <a:latin typeface="Noto Sans CJK SC"/>
                <a:ea typeface="Noto Sans CJK SC"/>
              </a:rPr>
              <a:t> / </a:t>
            </a:r>
            <a:r>
              <a:rPr sz="20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输出日志；就绪与执行状态、缩放；左下角小地图导航</a:t>
            </a:r>
            <a:endParaRPr sz="2000" b="0" dirty="0">
              <a:solidFill>
                <a:srgbClr val="556680"/>
              </a:solidFill>
              <a:latin typeface="Noto Sans CJK SC"/>
              <a:ea typeface="Noto Sans CJK S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92423" y="17123956"/>
            <a:ext cx="12168000" cy="767745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/>
            <a:r>
              <a:rPr sz="4800" b="1" dirty="0">
                <a:solidFill>
                  <a:srgbClr val="0F1E33"/>
                </a:solidFill>
                <a:latin typeface="Noto Sans CJK SC"/>
                <a:ea typeface="Noto Sans CJK SC"/>
              </a:rPr>
              <a:t>SYSTEM ARCHITECTURE</a:t>
            </a:r>
            <a:r>
              <a:rPr sz="3600" b="1" dirty="0">
                <a:solidFill>
                  <a:srgbClr val="007ACC"/>
                </a:solidFill>
                <a:latin typeface="Noto Sans CJK SC"/>
                <a:ea typeface="Noto Sans CJK SC"/>
              </a:rPr>
              <a:t>  </a:t>
            </a:r>
            <a:r>
              <a:rPr sz="3600" b="1" dirty="0" err="1">
                <a:solidFill>
                  <a:srgbClr val="007ACC"/>
                </a:solidFill>
                <a:latin typeface="Noto Sans CJK SC"/>
                <a:ea typeface="Noto Sans CJK SC"/>
              </a:rPr>
              <a:t>分层解耦</a:t>
            </a:r>
            <a:endParaRPr sz="3600" b="1" dirty="0">
              <a:solidFill>
                <a:srgbClr val="007ACC"/>
              </a:solidFill>
              <a:latin typeface="Noto Sans CJK SC"/>
              <a:ea typeface="Noto Sans CJK SC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92423" y="18046614"/>
            <a:ext cx="12168000" cy="1440000"/>
          </a:xfrm>
          <a:prstGeom prst="roundRect">
            <a:avLst>
              <a:gd name="adj" fmla="val 7000"/>
            </a:avLst>
          </a:prstGeom>
          <a:solidFill>
            <a:srgbClr val="E8F3FC"/>
          </a:solidFill>
          <a:ln w="12700">
            <a:solidFill>
              <a:srgbClr val="A9D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1" name="TextBox 30"/>
          <p:cNvSpPr txBox="1"/>
          <p:nvPr/>
        </p:nvSpPr>
        <p:spPr>
          <a:xfrm>
            <a:off x="1008423" y="18190614"/>
            <a:ext cx="11736000" cy="583079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/>
            <a:r>
              <a:rPr sz="3600" b="1" dirty="0" err="1">
                <a:solidFill>
                  <a:srgbClr val="0F1E33"/>
                </a:solidFill>
                <a:latin typeface="Noto Sans CJK SC"/>
                <a:ea typeface="Noto Sans CJK SC"/>
              </a:rPr>
              <a:t>界面层</a:t>
            </a:r>
            <a:r>
              <a:rPr sz="2000" b="0" dirty="0">
                <a:solidFill>
                  <a:srgbClr val="556680"/>
                </a:solidFill>
                <a:latin typeface="DejaVu Sans Mono"/>
                <a:ea typeface="DejaVu Sans Mono"/>
              </a:rPr>
              <a:t>  </a:t>
            </a:r>
            <a:r>
              <a:rPr sz="2000" b="0" dirty="0" err="1">
                <a:solidFill>
                  <a:srgbClr val="556680"/>
                </a:solidFill>
                <a:latin typeface="DejaVu Sans Mono"/>
                <a:ea typeface="DejaVu Sans Mono"/>
              </a:rPr>
              <a:t>gui</a:t>
            </a:r>
            <a:r>
              <a:rPr sz="2000" b="0" dirty="0">
                <a:solidFill>
                  <a:srgbClr val="556680"/>
                </a:solidFill>
                <a:latin typeface="DejaVu Sans Mono"/>
                <a:ea typeface="DejaVu Sans Mono"/>
              </a:rPr>
              <a:t>/ + </a:t>
            </a:r>
            <a:r>
              <a:rPr sz="2000" b="0" dirty="0" err="1">
                <a:solidFill>
                  <a:srgbClr val="556680"/>
                </a:solidFill>
                <a:latin typeface="DejaVu Sans Mono"/>
                <a:ea typeface="DejaVu Sans Mono"/>
              </a:rPr>
              <a:t>qml</a:t>
            </a:r>
            <a:r>
              <a:rPr sz="2000" b="0" dirty="0">
                <a:solidFill>
                  <a:srgbClr val="556680"/>
                </a:solidFill>
                <a:latin typeface="DejaVu Sans Mono"/>
                <a:ea typeface="DejaVu Sans Mono"/>
              </a:rPr>
              <a:t>/</a:t>
            </a:r>
            <a:r>
              <a:rPr sz="2000" b="1" dirty="0">
                <a:solidFill>
                  <a:srgbClr val="007ACC"/>
                </a:solidFill>
                <a:latin typeface="DejaVu Sans Mono"/>
                <a:ea typeface="DejaVu Sans Mono"/>
              </a:rPr>
              <a:t>   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423" y="18878660"/>
            <a:ext cx="11736000" cy="402260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QML 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工作台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 · 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MainWindow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 · 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WorkflowCanvas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(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QtNodes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) · 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参数面板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 · 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预览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 · 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对比对话框</a:t>
            </a:r>
            <a:endParaRPr sz="2400" b="0" dirty="0">
              <a:solidFill>
                <a:srgbClr val="2B3952"/>
              </a:solidFill>
              <a:latin typeface="Noto Sans CJK SC"/>
              <a:ea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92423" y="19432614"/>
            <a:ext cx="12168000" cy="398413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ctr"/>
            <a:r>
              <a:rPr sz="2400" b="0">
                <a:solidFill>
                  <a:srgbClr val="556680"/>
                </a:solidFill>
                <a:latin typeface="Noto Sans CJK SC"/>
                <a:ea typeface="Noto Sans CJK SC"/>
              </a:rPr>
              <a:t>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2423" y="19702614"/>
            <a:ext cx="12168000" cy="1440000"/>
          </a:xfrm>
          <a:prstGeom prst="roundRect">
            <a:avLst>
              <a:gd name="adj" fmla="val 7000"/>
            </a:avLst>
          </a:prstGeom>
          <a:solidFill>
            <a:srgbClr val="E5F6F1"/>
          </a:solidFill>
          <a:ln w="12700">
            <a:solidFill>
              <a:srgbClr val="A6E1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5" name="TextBox 34"/>
          <p:cNvSpPr txBox="1"/>
          <p:nvPr/>
        </p:nvSpPr>
        <p:spPr>
          <a:xfrm>
            <a:off x="1008423" y="19846614"/>
            <a:ext cx="11736000" cy="583079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/>
            <a:r>
              <a:rPr sz="3600" b="1">
                <a:solidFill>
                  <a:srgbClr val="0F1E33"/>
                </a:solidFill>
                <a:latin typeface="Noto Sans CJK SC"/>
                <a:ea typeface="Noto Sans CJK SC"/>
              </a:rPr>
              <a:t>核心层</a:t>
            </a:r>
            <a:r>
              <a:rPr sz="2000" b="0">
                <a:solidFill>
                  <a:srgbClr val="556680"/>
                </a:solidFill>
                <a:latin typeface="DejaVu Sans Mono"/>
                <a:ea typeface="DejaVu Sans Mono"/>
              </a:rPr>
              <a:t>  workflow/ + nodes/</a:t>
            </a:r>
            <a:r>
              <a:rPr sz="2000" b="1">
                <a:solidFill>
                  <a:srgbClr val="0C8074"/>
                </a:solidFill>
                <a:latin typeface="DejaVu Sans Mono"/>
                <a:ea typeface="DejaVu Sans Mono"/>
              </a:rPr>
              <a:t>   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423" y="20532083"/>
            <a:ext cx="11736000" cy="402260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图结构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 · 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校验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 · 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拓扑执行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 · JSON 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序列化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 · 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保存历史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 · 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ImageNode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 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多态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 · 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NodeFactory</a:t>
            </a:r>
            <a:endParaRPr sz="2400" b="0" dirty="0">
              <a:solidFill>
                <a:srgbClr val="2B3952"/>
              </a:solidFill>
              <a:latin typeface="Noto Sans CJK SC"/>
              <a:ea typeface="Noto Sans CJK SC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92423" y="21088614"/>
            <a:ext cx="12168000" cy="398413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ctr"/>
            <a:r>
              <a:rPr sz="2400" b="0">
                <a:solidFill>
                  <a:srgbClr val="556680"/>
                </a:solidFill>
                <a:latin typeface="Noto Sans CJK SC"/>
                <a:ea typeface="Noto Sans CJK SC"/>
              </a:rPr>
              <a:t>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2423" y="21358614"/>
            <a:ext cx="12168000" cy="144000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6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9" name="TextBox 38"/>
          <p:cNvSpPr txBox="1"/>
          <p:nvPr/>
        </p:nvSpPr>
        <p:spPr>
          <a:xfrm>
            <a:off x="1008423" y="21502614"/>
            <a:ext cx="11736000" cy="583079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/>
            <a:r>
              <a:rPr sz="3600" b="1" dirty="0" err="1">
                <a:solidFill>
                  <a:srgbClr val="0F1E33"/>
                </a:solidFill>
                <a:latin typeface="Noto Sans CJK SC"/>
                <a:ea typeface="Noto Sans CJK SC"/>
              </a:rPr>
              <a:t>基础层</a:t>
            </a:r>
            <a:r>
              <a:rPr sz="2000" b="0" dirty="0">
                <a:solidFill>
                  <a:srgbClr val="556680"/>
                </a:solidFill>
                <a:latin typeface="DejaVu Sans Mono"/>
                <a:ea typeface="DejaVu Sans Mono"/>
              </a:rPr>
              <a:t>  processing/ + core/ + util/</a:t>
            </a:r>
            <a:r>
              <a:rPr sz="2000" b="1" dirty="0">
                <a:solidFill>
                  <a:srgbClr val="556680"/>
                </a:solidFill>
                <a:latin typeface="DejaVu Sans Mono"/>
                <a:ea typeface="DejaVu Sans Mono"/>
              </a:rPr>
              <a:t>   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8423" y="22187128"/>
            <a:ext cx="11736000" cy="402260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纯图像算法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(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裁切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/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缩放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/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调色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/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滤波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/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合成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) · 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端口·连线·参数类型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 · 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结果封装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 · 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路径工具</a:t>
            </a:r>
            <a:endParaRPr sz="2400" b="0" dirty="0">
              <a:solidFill>
                <a:srgbClr val="2B3952"/>
              </a:solidFill>
              <a:latin typeface="Noto Sans CJK SC"/>
              <a:ea typeface="Noto Sans CJK SC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92423" y="23014614"/>
            <a:ext cx="12168000" cy="780762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400" b="1" dirty="0" err="1">
                <a:solidFill>
                  <a:srgbClr val="0C8074"/>
                </a:solidFill>
                <a:latin typeface="Noto Sans CJK SC"/>
                <a:ea typeface="Noto Sans CJK SC"/>
              </a:rPr>
              <a:t>数据流</a:t>
            </a:r>
            <a:r>
              <a:rPr sz="2400" b="1" dirty="0">
                <a:solidFill>
                  <a:srgbClr val="0C8074"/>
                </a:solidFill>
                <a:latin typeface="Noto Sans CJK SC"/>
                <a:ea typeface="Noto Sans CJK SC"/>
              </a:rPr>
              <a:t>  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ImageInput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 → 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处理节点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 … → Preview / 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ImageOutput，输出可分支给多个下游；节点级缓存复用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2423" y="23940916"/>
            <a:ext cx="5958000" cy="973141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6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72423" y="24324839"/>
            <a:ext cx="5598000" cy="459968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ctr"/>
            <a:r>
              <a:rPr sz="2800" b="1" dirty="0" err="1">
                <a:solidFill>
                  <a:srgbClr val="0F1E33"/>
                </a:solidFill>
                <a:latin typeface="Noto Sans CJK SC"/>
                <a:ea typeface="Noto Sans CJK SC"/>
              </a:rPr>
              <a:t>多态</a:t>
            </a:r>
            <a:r>
              <a:rPr sz="2800" b="1" dirty="0">
                <a:solidFill>
                  <a:srgbClr val="0F1E33"/>
                </a:solidFill>
                <a:latin typeface="Noto Sans CJK SC"/>
                <a:ea typeface="Noto Sans CJK SC"/>
              </a:rPr>
              <a:t> + </a:t>
            </a:r>
            <a:r>
              <a:rPr sz="2800" b="1" dirty="0" err="1">
                <a:solidFill>
                  <a:srgbClr val="0F1E33"/>
                </a:solidFill>
                <a:latin typeface="Noto Sans CJK SC"/>
                <a:ea typeface="Noto Sans CJK SC"/>
              </a:rPr>
              <a:t>工厂注册</a:t>
            </a:r>
            <a:r>
              <a:rPr sz="2800" b="1" dirty="0">
                <a:solidFill>
                  <a:srgbClr val="0F1E33"/>
                </a:solidFill>
                <a:latin typeface="Noto Sans CJK SC"/>
                <a:ea typeface="Noto Sans CJK SC"/>
              </a:rPr>
              <a:t>  </a:t>
            </a:r>
            <a:r>
              <a:rPr sz="2800" b="1" dirty="0" err="1">
                <a:solidFill>
                  <a:srgbClr val="0F1E33"/>
                </a:solidFill>
                <a:latin typeface="Noto Sans CJK SC"/>
                <a:ea typeface="Noto Sans CJK SC"/>
              </a:rPr>
              <a:t>NodeFactory</a:t>
            </a:r>
            <a:endParaRPr sz="2800" b="1" dirty="0">
              <a:solidFill>
                <a:srgbClr val="0F1E33"/>
              </a:solidFill>
              <a:latin typeface="Noto Sans CJK SC"/>
              <a:ea typeface="Noto Sans CJK SC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36423" y="25168729"/>
            <a:ext cx="5598000" cy="8040890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全部节点继承抽象基类</a:t>
            </a:r>
            <a:r>
              <a:rPr sz="2000" b="0" dirty="0">
                <a:solidFill>
                  <a:srgbClr val="2B3952"/>
                </a:solidFill>
                <a:latin typeface="Noto Sans CJK SC"/>
                <a:ea typeface="Noto Sans CJK SC"/>
              </a:rPr>
              <a:t> </a:t>
            </a:r>
            <a:r>
              <a:rPr sz="20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ImageNode，自述「有哪些端口、哪些参数、怎么执行</a:t>
            </a:r>
            <a:r>
              <a:rPr sz="2000" b="0" dirty="0">
                <a:solidFill>
                  <a:srgbClr val="2B3952"/>
                </a:solidFill>
                <a:latin typeface="Noto Sans CJK SC"/>
                <a:ea typeface="Noto Sans CJK SC"/>
              </a:rPr>
              <a:t>」；</a:t>
            </a:r>
            <a:r>
              <a:rPr sz="20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新增节点只需在</a:t>
            </a:r>
            <a:r>
              <a:rPr sz="2000" b="0" dirty="0">
                <a:solidFill>
                  <a:srgbClr val="2B3952"/>
                </a:solidFill>
                <a:latin typeface="Noto Sans CJK SC"/>
                <a:ea typeface="Noto Sans CJK SC"/>
              </a:rPr>
              <a:t> NodeFactory </a:t>
            </a:r>
            <a:r>
              <a:rPr sz="20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注册一行，执行引擎完全不用改，彻底避免大堆</a:t>
            </a:r>
            <a:r>
              <a:rPr sz="2000" b="0" dirty="0">
                <a:solidFill>
                  <a:srgbClr val="2B3952"/>
                </a:solidFill>
                <a:latin typeface="Noto Sans CJK SC"/>
                <a:ea typeface="Noto Sans CJK SC"/>
              </a:rPr>
              <a:t> if-else——</a:t>
            </a:r>
            <a:r>
              <a:rPr sz="20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这是系统能扩展到</a:t>
            </a:r>
            <a:r>
              <a:rPr sz="2000" b="0" dirty="0">
                <a:solidFill>
                  <a:srgbClr val="2B3952"/>
                </a:solidFill>
                <a:latin typeface="Noto Sans CJK SC"/>
                <a:ea typeface="Noto Sans CJK SC"/>
              </a:rPr>
              <a:t> 27+1 </a:t>
            </a:r>
            <a:r>
              <a:rPr sz="20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个节点的关键</a:t>
            </a:r>
            <a:r>
              <a:rPr sz="2000" b="0" dirty="0">
                <a:solidFill>
                  <a:srgbClr val="2B3952"/>
                </a:solidFill>
                <a:latin typeface="Noto Sans CJK SC"/>
                <a:ea typeface="Noto Sans CJK SC"/>
              </a:rPr>
              <a:t>。</a:t>
            </a:r>
          </a:p>
          <a:p>
            <a:pPr algn="l">
              <a:lnSpc>
                <a:spcPct val="130000"/>
              </a:lnSpc>
            </a:pPr>
            <a:r>
              <a:rPr sz="2000" b="1" dirty="0">
                <a:solidFill>
                  <a:srgbClr val="0C8074"/>
                </a:solidFill>
                <a:latin typeface="Noto Sans CJK SC"/>
                <a:ea typeface="Noto Sans CJK SC"/>
              </a:rPr>
              <a:t>› 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ImageNode</a:t>
            </a:r>
            <a:r>
              <a:rPr b="0" dirty="0">
                <a:solidFill>
                  <a:srgbClr val="556680"/>
                </a:solidFill>
                <a:latin typeface="Noto Sans CJK SC"/>
                <a:ea typeface="Noto Sans CJK SC"/>
              </a:rPr>
              <a:t>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虚接口：typeName</a:t>
            </a:r>
            <a:r>
              <a:rPr b="0" dirty="0">
                <a:solidFill>
                  <a:srgbClr val="556680"/>
                </a:solidFill>
                <a:latin typeface="Noto Sans CJK SC"/>
                <a:ea typeface="Noto Sans CJK SC"/>
              </a:rPr>
              <a:t> ·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inputPorts</a:t>
            </a:r>
            <a:r>
              <a:rPr b="0" dirty="0">
                <a:solidFill>
                  <a:srgbClr val="556680"/>
                </a:solidFill>
                <a:latin typeface="Noto Sans CJK SC"/>
                <a:ea typeface="Noto Sans CJK SC"/>
              </a:rPr>
              <a:t> ·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outputPorts</a:t>
            </a:r>
            <a:r>
              <a:rPr b="0" dirty="0">
                <a:solidFill>
                  <a:srgbClr val="556680"/>
                </a:solidFill>
                <a:latin typeface="Noto Sans CJK SC"/>
                <a:ea typeface="Noto Sans CJK SC"/>
              </a:rPr>
              <a:t> ·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saveParams</a:t>
            </a:r>
            <a:r>
              <a:rPr b="0" dirty="0">
                <a:solidFill>
                  <a:srgbClr val="556680"/>
                </a:solidFill>
                <a:latin typeface="Noto Sans CJK SC"/>
                <a:ea typeface="Noto Sans CJK SC"/>
              </a:rPr>
              <a:t> /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loadParams</a:t>
            </a:r>
            <a:r>
              <a:rPr b="0" dirty="0">
                <a:solidFill>
                  <a:srgbClr val="556680"/>
                </a:solidFill>
                <a:latin typeface="Noto Sans CJK SC"/>
                <a:ea typeface="Noto Sans CJK SC"/>
              </a:rPr>
              <a:t> ·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execute，子类各自实现</a:t>
            </a:r>
            <a:endParaRPr b="0" dirty="0">
              <a:solidFill>
                <a:srgbClr val="556680"/>
              </a:solidFill>
              <a:latin typeface="Noto Sans CJK SC"/>
              <a:ea typeface="Noto Sans CJK SC"/>
            </a:endParaRPr>
          </a:p>
          <a:p>
            <a:pPr algn="l">
              <a:lnSpc>
                <a:spcPct val="130000"/>
              </a:lnSpc>
            </a:pPr>
            <a:r>
              <a:rPr sz="2000" b="1" dirty="0">
                <a:solidFill>
                  <a:srgbClr val="0C8074"/>
                </a:solidFill>
                <a:latin typeface="Noto Sans CJK SC"/>
                <a:ea typeface="Noto Sans CJK SC"/>
              </a:rPr>
              <a:t>› 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NodeFactory.registerNode</a:t>
            </a:r>
            <a:r>
              <a:rPr b="0" dirty="0">
                <a:solidFill>
                  <a:srgbClr val="556680"/>
                </a:solidFill>
                <a:latin typeface="Noto Sans CJK SC"/>
                <a:ea typeface="Noto Sans CJK SC"/>
              </a:rPr>
              <a:t>(type, creator)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按类型创建实例；descriptors</a:t>
            </a:r>
            <a:r>
              <a:rPr b="0" dirty="0">
                <a:solidFill>
                  <a:srgbClr val="556680"/>
                </a:solidFill>
                <a:latin typeface="Noto Sans CJK SC"/>
                <a:ea typeface="Noto Sans CJK SC"/>
              </a:rPr>
              <a:t>()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同时供「节点库」与</a:t>
            </a:r>
            <a:r>
              <a:rPr b="0" dirty="0">
                <a:solidFill>
                  <a:srgbClr val="556680"/>
                </a:solidFill>
                <a:latin typeface="Noto Sans CJK SC"/>
                <a:ea typeface="Noto Sans CJK SC"/>
              </a:rPr>
              <a:t>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picdeal</a:t>
            </a:r>
            <a:r>
              <a:rPr b="0" dirty="0">
                <a:solidFill>
                  <a:srgbClr val="556680"/>
                </a:solidFill>
                <a:latin typeface="Noto Sans CJK SC"/>
                <a:ea typeface="Noto Sans CJK SC"/>
              </a:rPr>
              <a:t> nodes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使用</a:t>
            </a:r>
            <a:endParaRPr b="0" dirty="0">
              <a:solidFill>
                <a:srgbClr val="556680"/>
              </a:solidFill>
              <a:latin typeface="Noto Sans CJK SC"/>
              <a:ea typeface="Noto Sans CJK SC"/>
            </a:endParaRPr>
          </a:p>
          <a:p>
            <a:pPr algn="l">
              <a:lnSpc>
                <a:spcPct val="130000"/>
              </a:lnSpc>
            </a:pPr>
            <a:r>
              <a:rPr sz="2000" b="1" dirty="0">
                <a:solidFill>
                  <a:srgbClr val="0C8074"/>
                </a:solidFill>
                <a:latin typeface="Noto Sans CJK SC"/>
                <a:ea typeface="Noto Sans CJK SC"/>
              </a:rPr>
              <a:t>› 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端口按数据类型着色并校验方向：输出只能接输入，类型不兼容拒连</a:t>
            </a:r>
            <a:endParaRPr b="0" dirty="0">
              <a:solidFill>
                <a:srgbClr val="556680"/>
              </a:solidFill>
              <a:latin typeface="Noto Sans CJK SC"/>
              <a:ea typeface="Noto Sans CJK SC"/>
            </a:endParaRPr>
          </a:p>
          <a:p>
            <a:pPr algn="l">
              <a:lnSpc>
                <a:spcPct val="130000"/>
              </a:lnSpc>
            </a:pPr>
            <a:r>
              <a:rPr sz="2000" b="1" dirty="0">
                <a:solidFill>
                  <a:srgbClr val="0C8074"/>
                </a:solidFill>
                <a:latin typeface="Noto Sans CJK SC"/>
                <a:ea typeface="Noto Sans CJK SC"/>
              </a:rPr>
              <a:t>› 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普通输入端口只接一条边，输出端口可分支给多个下游；会成环的连线被直接拒绝</a:t>
            </a:r>
            <a:endParaRPr b="0" dirty="0">
              <a:solidFill>
                <a:srgbClr val="556680"/>
              </a:solidFill>
              <a:latin typeface="Noto Sans CJK SC"/>
              <a:ea typeface="Noto Sans CJK SC"/>
            </a:endParaRPr>
          </a:p>
          <a:p>
            <a:pPr algn="l">
              <a:lnSpc>
                <a:spcPct val="130000"/>
              </a:lnSpc>
            </a:pPr>
            <a:r>
              <a:rPr sz="2000" b="1" dirty="0">
                <a:solidFill>
                  <a:srgbClr val="0C8074"/>
                </a:solidFill>
                <a:latin typeface="Noto Sans CJK SC"/>
                <a:ea typeface="Noto Sans CJK SC"/>
              </a:rPr>
              <a:t>› 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ImageList</a:t>
            </a:r>
            <a:r>
              <a:rPr b="0" dirty="0">
                <a:solidFill>
                  <a:srgbClr val="556680"/>
                </a:solidFill>
                <a:latin typeface="Noto Sans CJK SC"/>
                <a:ea typeface="Noto Sans CJK SC"/>
              </a:rPr>
              <a:t>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批量类型端口仅与同类互连，从源头避免误接</a:t>
            </a:r>
            <a:endParaRPr b="0" dirty="0">
              <a:solidFill>
                <a:srgbClr val="556680"/>
              </a:solidFill>
              <a:latin typeface="Noto Sans CJK SC"/>
              <a:ea typeface="Noto Sans CJK SC"/>
            </a:endParaRPr>
          </a:p>
          <a:p>
            <a:pPr algn="l">
              <a:lnSpc>
                <a:spcPct val="130000"/>
              </a:lnSpc>
            </a:pPr>
            <a:r>
              <a:rPr sz="2000" b="1" dirty="0">
                <a:solidFill>
                  <a:srgbClr val="0C8074"/>
                </a:solidFill>
                <a:latin typeface="Noto Sans CJK SC"/>
                <a:ea typeface="Noto Sans CJK SC"/>
              </a:rPr>
              <a:t>› 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纯图像算法集中在</a:t>
            </a:r>
            <a:r>
              <a:rPr b="0" dirty="0">
                <a:solidFill>
                  <a:srgbClr val="556680"/>
                </a:solidFill>
                <a:latin typeface="Noto Sans CJK SC"/>
                <a:ea typeface="Noto Sans CJK SC"/>
              </a:rPr>
              <a:t> processing/（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裁切</a:t>
            </a:r>
            <a:r>
              <a:rPr b="0" dirty="0">
                <a:solidFill>
                  <a:srgbClr val="556680"/>
                </a:solidFill>
                <a:latin typeface="Noto Sans CJK SC"/>
                <a:ea typeface="Noto Sans CJK SC"/>
              </a:rPr>
              <a:t> /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缩放</a:t>
            </a:r>
            <a:r>
              <a:rPr b="0" dirty="0">
                <a:solidFill>
                  <a:srgbClr val="556680"/>
                </a:solidFill>
                <a:latin typeface="Noto Sans CJK SC"/>
                <a:ea typeface="Noto Sans CJK SC"/>
              </a:rPr>
              <a:t> /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调色</a:t>
            </a:r>
            <a:r>
              <a:rPr b="0" dirty="0">
                <a:solidFill>
                  <a:srgbClr val="556680"/>
                </a:solidFill>
                <a:latin typeface="Noto Sans CJK SC"/>
                <a:ea typeface="Noto Sans CJK SC"/>
              </a:rPr>
              <a:t> /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滤波</a:t>
            </a:r>
            <a:r>
              <a:rPr b="0" dirty="0">
                <a:solidFill>
                  <a:srgbClr val="556680"/>
                </a:solidFill>
                <a:latin typeface="Noto Sans CJK SC"/>
                <a:ea typeface="Noto Sans CJK SC"/>
              </a:rPr>
              <a:t> /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合成</a:t>
            </a:r>
            <a:r>
              <a:rPr b="0" dirty="0">
                <a:solidFill>
                  <a:srgbClr val="556680"/>
                </a:solidFill>
                <a:latin typeface="Noto Sans CJK SC"/>
                <a:ea typeface="Noto Sans CJK SC"/>
              </a:rPr>
              <a:t>），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与节点壳层分离、便于单测</a:t>
            </a:r>
            <a:endParaRPr b="0" dirty="0">
              <a:solidFill>
                <a:srgbClr val="556680"/>
              </a:solidFill>
              <a:latin typeface="Noto Sans CJK SC"/>
              <a:ea typeface="Noto Sans CJK SC"/>
            </a:endParaRPr>
          </a:p>
          <a:p>
            <a:pPr algn="l">
              <a:lnSpc>
                <a:spcPct val="130000"/>
              </a:lnSpc>
            </a:pPr>
            <a:r>
              <a:rPr sz="2000" b="1" dirty="0">
                <a:solidFill>
                  <a:srgbClr val="0C8074"/>
                </a:solidFill>
                <a:latin typeface="Noto Sans CJK SC"/>
                <a:ea typeface="Noto Sans CJK SC"/>
              </a:rPr>
              <a:t>› 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宏节点把一组节点封装为子图，按内部自由端口自动生成对外输入</a:t>
            </a:r>
            <a:r>
              <a:rPr b="0" dirty="0">
                <a:solidFill>
                  <a:srgbClr val="556680"/>
                </a:solidFill>
                <a:latin typeface="Noto Sans CJK SC"/>
                <a:ea typeface="Noto Sans CJK SC"/>
              </a:rPr>
              <a:t> /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输出端口，复杂流程更整洁</a:t>
            </a:r>
            <a:endParaRPr b="0" dirty="0">
              <a:solidFill>
                <a:srgbClr val="556680"/>
              </a:solidFill>
              <a:latin typeface="Noto Sans CJK SC"/>
              <a:ea typeface="Noto Sans CJK SC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7002423" y="23940916"/>
            <a:ext cx="5958000" cy="973141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6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194423" y="24192448"/>
            <a:ext cx="5598000" cy="890856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ctr"/>
            <a:r>
              <a:rPr sz="2800" b="1" dirty="0" err="1">
                <a:solidFill>
                  <a:srgbClr val="0F1E33"/>
                </a:solidFill>
                <a:latin typeface="Noto Sans CJK SC"/>
                <a:ea typeface="Noto Sans CJK SC"/>
              </a:rPr>
              <a:t>引擎独立</a:t>
            </a:r>
            <a:r>
              <a:rPr sz="2800" b="1" dirty="0">
                <a:solidFill>
                  <a:srgbClr val="0F1E33"/>
                </a:solidFill>
                <a:latin typeface="Noto Sans CJK SC"/>
                <a:ea typeface="Noto Sans CJK SC"/>
              </a:rPr>
              <a:t> · GUI/CLI </a:t>
            </a:r>
            <a:r>
              <a:rPr sz="2800" b="1" dirty="0" err="1">
                <a:solidFill>
                  <a:srgbClr val="0F1E33"/>
                </a:solidFill>
                <a:latin typeface="Noto Sans CJK SC"/>
                <a:ea typeface="Noto Sans CJK SC"/>
              </a:rPr>
              <a:t>共用</a:t>
            </a:r>
            <a:r>
              <a:rPr sz="2800" b="1" dirty="0">
                <a:solidFill>
                  <a:srgbClr val="0F1E33"/>
                </a:solidFill>
                <a:latin typeface="Noto Sans CJK SC"/>
                <a:ea typeface="Noto Sans CJK SC"/>
              </a:rPr>
              <a:t>  </a:t>
            </a:r>
            <a:r>
              <a:rPr sz="2800" b="1" dirty="0" err="1">
                <a:solidFill>
                  <a:srgbClr val="0F1E33"/>
                </a:solidFill>
                <a:latin typeface="Noto Sans CJK SC"/>
                <a:ea typeface="Noto Sans CJK SC"/>
              </a:rPr>
              <a:t>ExecutionEngine</a:t>
            </a:r>
            <a:endParaRPr sz="2800" b="1" dirty="0">
              <a:solidFill>
                <a:srgbClr val="0F1E33"/>
              </a:solidFill>
              <a:latin typeface="Noto Sans CJK SC"/>
              <a:ea typeface="Noto Sans CJK SC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182423" y="25299772"/>
            <a:ext cx="5598000" cy="7284081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界面点「执行」与命令行</a:t>
            </a:r>
            <a:r>
              <a:rPr sz="2000" b="0" dirty="0">
                <a:solidFill>
                  <a:srgbClr val="2B3952"/>
                </a:solidFill>
                <a:latin typeface="Noto Sans CJK SC"/>
                <a:ea typeface="Noto Sans CJK SC"/>
              </a:rPr>
              <a:t> </a:t>
            </a:r>
            <a:r>
              <a:rPr sz="20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picdeal</a:t>
            </a:r>
            <a:r>
              <a:rPr sz="2000" b="0" dirty="0">
                <a:solidFill>
                  <a:srgbClr val="2B3952"/>
                </a:solidFill>
                <a:latin typeface="Noto Sans CJK SC"/>
                <a:ea typeface="Noto Sans CJK SC"/>
              </a:rPr>
              <a:t> </a:t>
            </a:r>
            <a:r>
              <a:rPr sz="20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跑</a:t>
            </a:r>
            <a:r>
              <a:rPr sz="2000" b="0" dirty="0">
                <a:solidFill>
                  <a:srgbClr val="2B3952"/>
                </a:solidFill>
                <a:latin typeface="Noto Sans CJK SC"/>
                <a:ea typeface="Noto Sans CJK SC"/>
              </a:rPr>
              <a:t> </a:t>
            </a:r>
            <a:r>
              <a:rPr sz="20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JSON，走的是同一套</a:t>
            </a:r>
            <a:r>
              <a:rPr sz="2000" b="0" dirty="0">
                <a:solidFill>
                  <a:srgbClr val="2B3952"/>
                </a:solidFill>
                <a:latin typeface="Noto Sans CJK SC"/>
                <a:ea typeface="Noto Sans CJK SC"/>
              </a:rPr>
              <a:t> </a:t>
            </a:r>
            <a:r>
              <a:rPr sz="20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ExecutionEngine，保证两边行为一致；界面与核心之间以</a:t>
            </a:r>
            <a:r>
              <a:rPr sz="2000" b="0" dirty="0">
                <a:solidFill>
                  <a:srgbClr val="2B3952"/>
                </a:solidFill>
                <a:latin typeface="Noto Sans CJK SC"/>
                <a:ea typeface="Noto Sans CJK SC"/>
              </a:rPr>
              <a:t> Qt </a:t>
            </a:r>
            <a:r>
              <a:rPr sz="20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信号槽解耦，互不依赖、可独立理解与测试</a:t>
            </a:r>
            <a:r>
              <a:rPr sz="2000" b="0" dirty="0">
                <a:solidFill>
                  <a:srgbClr val="2B3952"/>
                </a:solidFill>
                <a:latin typeface="Noto Sans CJK SC"/>
                <a:ea typeface="Noto Sans CJK SC"/>
              </a:rPr>
              <a:t>。</a:t>
            </a:r>
          </a:p>
          <a:p>
            <a:pPr algn="l">
              <a:lnSpc>
                <a:spcPct val="130000"/>
              </a:lnSpc>
            </a:pPr>
            <a:r>
              <a:rPr sz="2000" b="1" dirty="0">
                <a:solidFill>
                  <a:srgbClr val="0C8074"/>
                </a:solidFill>
                <a:latin typeface="Noto Sans CJK SC"/>
                <a:ea typeface="Noto Sans CJK SC"/>
              </a:rPr>
              <a:t>› 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执行前统一校验：端口方向</a:t>
            </a:r>
            <a:r>
              <a:rPr b="0" dirty="0">
                <a:solidFill>
                  <a:srgbClr val="556680"/>
                </a:solidFill>
                <a:latin typeface="Noto Sans CJK SC"/>
                <a:ea typeface="Noto Sans CJK SC"/>
              </a:rPr>
              <a:t> /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类型、必填输入、参数范围、整图是否为</a:t>
            </a:r>
            <a:r>
              <a:rPr b="0" dirty="0">
                <a:solidFill>
                  <a:srgbClr val="556680"/>
                </a:solidFill>
                <a:latin typeface="Noto Sans CJK SC"/>
                <a:ea typeface="Noto Sans CJK SC"/>
              </a:rPr>
              <a:t>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DAG（无环</a:t>
            </a:r>
            <a:r>
              <a:rPr b="0" dirty="0">
                <a:solidFill>
                  <a:srgbClr val="556680"/>
                </a:solidFill>
                <a:latin typeface="Noto Sans CJK SC"/>
                <a:ea typeface="Noto Sans CJK SC"/>
              </a:rPr>
              <a:t>）</a:t>
            </a:r>
          </a:p>
          <a:p>
            <a:pPr algn="l">
              <a:lnSpc>
                <a:spcPct val="130000"/>
              </a:lnSpc>
            </a:pPr>
            <a:r>
              <a:rPr sz="2000" b="1" dirty="0">
                <a:solidFill>
                  <a:srgbClr val="0C8074"/>
                </a:solidFill>
                <a:latin typeface="Noto Sans CJK SC"/>
                <a:ea typeface="Noto Sans CJK SC"/>
              </a:rPr>
              <a:t>› 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通过后拓扑排序，按依赖顺序逐个执行并收集上游输出</a:t>
            </a:r>
            <a:endParaRPr b="0" dirty="0">
              <a:solidFill>
                <a:srgbClr val="556680"/>
              </a:solidFill>
              <a:latin typeface="Noto Sans CJK SC"/>
              <a:ea typeface="Noto Sans CJK SC"/>
            </a:endParaRPr>
          </a:p>
          <a:p>
            <a:pPr algn="l">
              <a:lnSpc>
                <a:spcPct val="130000"/>
              </a:lnSpc>
            </a:pPr>
            <a:r>
              <a:rPr sz="2000" b="1" dirty="0">
                <a:solidFill>
                  <a:srgbClr val="0C8074"/>
                </a:solidFill>
                <a:latin typeface="Noto Sans CJK SC"/>
                <a:ea typeface="Noto Sans CJK SC"/>
              </a:rPr>
              <a:t>› 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出错一律返回清晰中文提示而非崩溃，失败节点自动选中并居中定位</a:t>
            </a:r>
            <a:endParaRPr b="0" dirty="0">
              <a:solidFill>
                <a:srgbClr val="556680"/>
              </a:solidFill>
              <a:latin typeface="Noto Sans CJK SC"/>
              <a:ea typeface="Noto Sans CJK SC"/>
            </a:endParaRPr>
          </a:p>
          <a:p>
            <a:pPr algn="l">
              <a:lnSpc>
                <a:spcPct val="130000"/>
              </a:lnSpc>
            </a:pPr>
            <a:r>
              <a:rPr sz="2000" b="1" dirty="0">
                <a:solidFill>
                  <a:srgbClr val="0C8074"/>
                </a:solidFill>
                <a:latin typeface="Noto Sans CJK SC"/>
                <a:ea typeface="Noto Sans CJK SC"/>
              </a:rPr>
              <a:t>› 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节点级</a:t>
            </a:r>
            <a:r>
              <a:rPr b="0" dirty="0">
                <a:solidFill>
                  <a:srgbClr val="556680"/>
                </a:solidFill>
                <a:latin typeface="Noto Sans CJK SC"/>
                <a:ea typeface="Noto Sans CJK SC"/>
              </a:rPr>
              <a:t> LRU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缓存：未改动节点复用上次结果，连续执行同一流程更快</a:t>
            </a:r>
            <a:endParaRPr b="0" dirty="0">
              <a:solidFill>
                <a:srgbClr val="556680"/>
              </a:solidFill>
              <a:latin typeface="Noto Sans CJK SC"/>
              <a:ea typeface="Noto Sans CJK SC"/>
            </a:endParaRPr>
          </a:p>
          <a:p>
            <a:pPr algn="l">
              <a:lnSpc>
                <a:spcPct val="130000"/>
              </a:lnSpc>
            </a:pPr>
            <a:r>
              <a:rPr sz="2000" b="1" dirty="0">
                <a:solidFill>
                  <a:srgbClr val="0C8074"/>
                </a:solidFill>
                <a:latin typeface="Noto Sans CJK SC"/>
                <a:ea typeface="Noto Sans CJK SC"/>
              </a:rPr>
              <a:t>› 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改参数防抖触发实时预览，受影响节点及其上游自动重算、刷新缩略图</a:t>
            </a:r>
            <a:endParaRPr b="0" dirty="0">
              <a:solidFill>
                <a:srgbClr val="556680"/>
              </a:solidFill>
              <a:latin typeface="Noto Sans CJK SC"/>
              <a:ea typeface="Noto Sans CJK SC"/>
            </a:endParaRPr>
          </a:p>
          <a:p>
            <a:pPr algn="l">
              <a:lnSpc>
                <a:spcPct val="130000"/>
              </a:lnSpc>
            </a:pPr>
            <a:r>
              <a:rPr sz="2000" b="1" dirty="0">
                <a:solidFill>
                  <a:srgbClr val="0C8074"/>
                </a:solidFill>
                <a:latin typeface="Noto Sans CJK SC"/>
                <a:ea typeface="Noto Sans CJK SC"/>
              </a:rPr>
              <a:t>› 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执行期间「执行」按钮变为取消入口，可随时中断</a:t>
            </a:r>
            <a:endParaRPr b="0" dirty="0">
              <a:solidFill>
                <a:srgbClr val="556680"/>
              </a:solidFill>
              <a:latin typeface="Noto Sans CJK SC"/>
              <a:ea typeface="Noto Sans CJK SC"/>
            </a:endParaRPr>
          </a:p>
          <a:p>
            <a:pPr algn="l">
              <a:lnSpc>
                <a:spcPct val="130000"/>
              </a:lnSpc>
            </a:pPr>
            <a:r>
              <a:rPr sz="2000" b="1" dirty="0">
                <a:solidFill>
                  <a:srgbClr val="0C8074"/>
                </a:solidFill>
                <a:latin typeface="Noto Sans CJK SC"/>
                <a:ea typeface="Noto Sans CJK SC"/>
              </a:rPr>
              <a:t>› 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工作流存为</a:t>
            </a:r>
            <a:r>
              <a:rPr b="0" dirty="0">
                <a:solidFill>
                  <a:srgbClr val="556680"/>
                </a:solidFill>
                <a:latin typeface="Noto Sans CJK SC"/>
                <a:ea typeface="Noto Sans CJK SC"/>
              </a:rPr>
              <a:t> JSON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配方（不含图片二进制</a:t>
            </a:r>
            <a:r>
              <a:rPr b="0" dirty="0">
                <a:solidFill>
                  <a:srgbClr val="556680"/>
                </a:solidFill>
                <a:latin typeface="Noto Sans CJK SC"/>
                <a:ea typeface="Noto Sans CJK SC"/>
              </a:rPr>
              <a:t>），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优先相对路径，支持中文</a:t>
            </a:r>
            <a:r>
              <a:rPr b="0" dirty="0">
                <a:solidFill>
                  <a:srgbClr val="556680"/>
                </a:solidFill>
                <a:latin typeface="Noto Sans CJK SC"/>
                <a:ea typeface="Noto Sans CJK SC"/>
              </a:rPr>
              <a:t> /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空格路径</a:t>
            </a:r>
            <a:endParaRPr b="0" dirty="0">
              <a:solidFill>
                <a:srgbClr val="556680"/>
              </a:solidFill>
              <a:latin typeface="Noto Sans CJK SC"/>
              <a:ea typeface="Noto Sans CJK SC"/>
            </a:endParaRPr>
          </a:p>
          <a:p>
            <a:pPr algn="l">
              <a:lnSpc>
                <a:spcPct val="130000"/>
              </a:lnSpc>
            </a:pPr>
            <a:r>
              <a:rPr sz="2000" b="1" dirty="0">
                <a:solidFill>
                  <a:srgbClr val="0C8074"/>
                </a:solidFill>
                <a:latin typeface="Noto Sans CJK SC"/>
                <a:ea typeface="Noto Sans CJK SC"/>
              </a:rPr>
              <a:t>› 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进度记录像轻量版本管理：保存点</a:t>
            </a:r>
            <a:r>
              <a:rPr b="0" dirty="0">
                <a:solidFill>
                  <a:srgbClr val="556680"/>
                </a:solidFill>
                <a:latin typeface="Noto Sans CJK SC"/>
                <a:ea typeface="Noto Sans CJK SC"/>
              </a:rPr>
              <a:t> /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时间线</a:t>
            </a:r>
            <a:r>
              <a:rPr b="0" dirty="0">
                <a:solidFill>
                  <a:srgbClr val="556680"/>
                </a:solidFill>
                <a:latin typeface="Noto Sans CJK SC"/>
                <a:ea typeface="Noto Sans CJK SC"/>
              </a:rPr>
              <a:t> /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恢复</a:t>
            </a:r>
            <a:r>
              <a:rPr b="0" dirty="0">
                <a:solidFill>
                  <a:srgbClr val="556680"/>
                </a:solidFill>
                <a:latin typeface="Noto Sans CJK SC"/>
                <a:ea typeface="Noto Sans CJK SC"/>
              </a:rPr>
              <a:t> / </a:t>
            </a:r>
            <a:r>
              <a:rPr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分支，并可并排对比两版差异</a:t>
            </a:r>
            <a:endParaRPr b="0" dirty="0">
              <a:solidFill>
                <a:srgbClr val="556680"/>
              </a:solidFill>
              <a:latin typeface="Noto Sans CJK SC"/>
              <a:ea typeface="Noto Sans CJK SC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13752423" y="8493350"/>
            <a:ext cx="15840000" cy="1296000"/>
          </a:xfrm>
          <a:prstGeom prst="roundRect">
            <a:avLst>
              <a:gd name="adj" fmla="val 5000"/>
            </a:avLst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9" name="Rectangle 48"/>
          <p:cNvSpPr/>
          <p:nvPr/>
        </p:nvSpPr>
        <p:spPr>
          <a:xfrm>
            <a:off x="13752423" y="9141350"/>
            <a:ext cx="15840000" cy="648000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0" name="TextBox 49"/>
          <p:cNvSpPr txBox="1"/>
          <p:nvPr/>
        </p:nvSpPr>
        <p:spPr>
          <a:xfrm>
            <a:off x="14040423" y="8757479"/>
            <a:ext cx="15264000" cy="767745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Noto Sans CJK SC"/>
                <a:ea typeface="Noto Sans CJK SC"/>
              </a:rPr>
              <a:t>01  KEY ENGINEERING FEATURES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040423" y="8849812"/>
            <a:ext cx="15408000" cy="583079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r"/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</a:rPr>
              <a:t>技术亮点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752423" y="9789350"/>
            <a:ext cx="15840000" cy="57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3" name="Rounded Rectangle 52"/>
          <p:cNvSpPr/>
          <p:nvPr/>
        </p:nvSpPr>
        <p:spPr>
          <a:xfrm>
            <a:off x="13968423" y="9969350"/>
            <a:ext cx="7596000" cy="2052000"/>
          </a:xfrm>
          <a:prstGeom prst="roundRect">
            <a:avLst>
              <a:gd name="adj" fmla="val 6000"/>
            </a:avLst>
          </a:prstGeom>
          <a:solidFill>
            <a:srgbClr val="F3F7FC"/>
          </a:solidFill>
          <a:ln w="12700">
            <a:solidFill>
              <a:srgbClr val="C6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4" name="Oval 53"/>
          <p:cNvSpPr/>
          <p:nvPr/>
        </p:nvSpPr>
        <p:spPr>
          <a:xfrm>
            <a:off x="14184423" y="10239350"/>
            <a:ext cx="1512000" cy="1512000"/>
          </a:xfrm>
          <a:prstGeom prst="ellipse">
            <a:avLst/>
          </a:prstGeom>
          <a:solidFill>
            <a:srgbClr val="E5F6F1"/>
          </a:solidFill>
          <a:ln w="3302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5" name="TextBox 54"/>
          <p:cNvSpPr txBox="1"/>
          <p:nvPr/>
        </p:nvSpPr>
        <p:spPr>
          <a:xfrm>
            <a:off x="14184423" y="10519146"/>
            <a:ext cx="1512000" cy="952411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ctr"/>
            <a:r>
              <a:rPr sz="6000" b="1">
                <a:solidFill>
                  <a:srgbClr val="0C8074"/>
                </a:solidFill>
                <a:latin typeface="Noto Sans CJK SC"/>
                <a:ea typeface="Noto Sans CJK SC"/>
              </a:rPr>
              <a:t>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912423" y="10149350"/>
            <a:ext cx="5436000" cy="521524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/>
            <a:r>
              <a:rPr sz="3200" b="1">
                <a:solidFill>
                  <a:srgbClr val="0F1E33"/>
                </a:solidFill>
                <a:latin typeface="Noto Sans CJK SC"/>
                <a:ea typeface="Noto Sans CJK SC"/>
              </a:rPr>
              <a:t>Modular Node Architecture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912423" y="10639228"/>
            <a:ext cx="5436000" cy="1185295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所有节点继承抽象基类</a:t>
            </a:r>
            <a:r>
              <a:rPr sz="2400" b="0" dirty="0">
                <a:solidFill>
                  <a:srgbClr val="556680"/>
                </a:solidFill>
                <a:latin typeface="Noto Sans CJK SC"/>
                <a:ea typeface="Noto Sans CJK SC"/>
              </a:rPr>
              <a:t> </a:t>
            </a:r>
            <a:r>
              <a:rPr sz="24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ImageNode，新增节点仅在</a:t>
            </a:r>
            <a:r>
              <a:rPr sz="2400" b="0" dirty="0">
                <a:solidFill>
                  <a:srgbClr val="556680"/>
                </a:solidFill>
                <a:latin typeface="Noto Sans CJK SC"/>
                <a:ea typeface="Noto Sans CJK SC"/>
              </a:rPr>
              <a:t> NodeFactory </a:t>
            </a:r>
            <a:r>
              <a:rPr sz="24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注册一行，引擎零改动，消除大量</a:t>
            </a:r>
            <a:r>
              <a:rPr sz="2400" b="0" dirty="0">
                <a:solidFill>
                  <a:srgbClr val="556680"/>
                </a:solidFill>
                <a:latin typeface="Noto Sans CJK SC"/>
                <a:ea typeface="Noto Sans CJK SC"/>
              </a:rPr>
              <a:t> if-else。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1780423" y="9969350"/>
            <a:ext cx="7596000" cy="2052000"/>
          </a:xfrm>
          <a:prstGeom prst="roundRect">
            <a:avLst>
              <a:gd name="adj" fmla="val 6000"/>
            </a:avLst>
          </a:prstGeom>
          <a:solidFill>
            <a:srgbClr val="F3F7FC"/>
          </a:solidFill>
          <a:ln w="12700">
            <a:solidFill>
              <a:srgbClr val="C6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9" name="Oval 58"/>
          <p:cNvSpPr/>
          <p:nvPr/>
        </p:nvSpPr>
        <p:spPr>
          <a:xfrm>
            <a:off x="21996423" y="10239350"/>
            <a:ext cx="1512000" cy="1512000"/>
          </a:xfrm>
          <a:prstGeom prst="ellipse">
            <a:avLst/>
          </a:prstGeom>
          <a:solidFill>
            <a:srgbClr val="E8F3FC"/>
          </a:solidFill>
          <a:ln w="33020">
            <a:solidFill>
              <a:srgbClr val="007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0" name="TextBox 59"/>
          <p:cNvSpPr txBox="1"/>
          <p:nvPr/>
        </p:nvSpPr>
        <p:spPr>
          <a:xfrm>
            <a:off x="21996423" y="10519146"/>
            <a:ext cx="1512000" cy="952411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ctr"/>
            <a:r>
              <a:rPr sz="6000" b="1">
                <a:solidFill>
                  <a:srgbClr val="007ACC"/>
                </a:solidFill>
                <a:latin typeface="Noto Sans CJK SC"/>
                <a:ea typeface="Noto Sans CJK SC"/>
              </a:rPr>
              <a:t>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724423" y="10149350"/>
            <a:ext cx="5436000" cy="521524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/>
            <a:r>
              <a:rPr sz="3200" b="1">
                <a:solidFill>
                  <a:srgbClr val="0F1E33"/>
                </a:solidFill>
                <a:latin typeface="Noto Sans CJK SC"/>
                <a:ea typeface="Noto Sans CJK SC"/>
              </a:rPr>
              <a:t>Responsive Real-Time UI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724423" y="10642088"/>
            <a:ext cx="5436000" cy="1185295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改参数防抖触发实时预览，受影响节点及上游自动重算，整链缩略图即时刷新，所见即所得</a:t>
            </a:r>
            <a:r>
              <a:rPr sz="2400" b="0" dirty="0">
                <a:solidFill>
                  <a:srgbClr val="556680"/>
                </a:solidFill>
                <a:latin typeface="Noto Sans CJK SC"/>
                <a:ea typeface="Noto Sans CJK SC"/>
              </a:rPr>
              <a:t>。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3968423" y="12165350"/>
            <a:ext cx="7596000" cy="2052000"/>
          </a:xfrm>
          <a:prstGeom prst="roundRect">
            <a:avLst>
              <a:gd name="adj" fmla="val 6000"/>
            </a:avLst>
          </a:prstGeom>
          <a:solidFill>
            <a:srgbClr val="F3F7FC"/>
          </a:solidFill>
          <a:ln w="12700">
            <a:solidFill>
              <a:srgbClr val="C6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4" name="Oval 63"/>
          <p:cNvSpPr/>
          <p:nvPr/>
        </p:nvSpPr>
        <p:spPr>
          <a:xfrm>
            <a:off x="14184423" y="12435350"/>
            <a:ext cx="1512000" cy="1512000"/>
          </a:xfrm>
          <a:prstGeom prst="ellipse">
            <a:avLst/>
          </a:prstGeom>
          <a:solidFill>
            <a:srgbClr val="E8F3FC"/>
          </a:solidFill>
          <a:ln w="33020">
            <a:solidFill>
              <a:srgbClr val="007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5" name="TextBox 64"/>
          <p:cNvSpPr txBox="1"/>
          <p:nvPr/>
        </p:nvSpPr>
        <p:spPr>
          <a:xfrm>
            <a:off x="14184423" y="12715146"/>
            <a:ext cx="1512000" cy="952411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ctr"/>
            <a:r>
              <a:rPr sz="6000" b="1">
                <a:solidFill>
                  <a:srgbClr val="007ACC"/>
                </a:solidFill>
                <a:latin typeface="Noto Sans CJK SC"/>
                <a:ea typeface="Noto Sans CJK SC"/>
              </a:rPr>
              <a:t>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912423" y="12345350"/>
            <a:ext cx="5436000" cy="521524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/>
            <a:r>
              <a:rPr sz="3200" b="1">
                <a:solidFill>
                  <a:srgbClr val="0F1E33"/>
                </a:solidFill>
                <a:latin typeface="Noto Sans CJK SC"/>
                <a:ea typeface="Noto Sans CJK SC"/>
              </a:rPr>
              <a:t>High-Performance Engine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912423" y="12835227"/>
            <a:ext cx="5436000" cy="1185295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模糊改滑动窗口算法，复杂度与半径无关；节点级</a:t>
            </a:r>
            <a:r>
              <a:rPr sz="2400" b="0" dirty="0">
                <a:solidFill>
                  <a:srgbClr val="556680"/>
                </a:solidFill>
                <a:latin typeface="Noto Sans CJK SC"/>
                <a:ea typeface="Noto Sans CJK SC"/>
              </a:rPr>
              <a:t> LRU </a:t>
            </a:r>
            <a:r>
              <a:rPr sz="24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缓存复用未改动结果，连续执行更快</a:t>
            </a:r>
            <a:r>
              <a:rPr sz="2400" b="0" dirty="0">
                <a:solidFill>
                  <a:srgbClr val="556680"/>
                </a:solidFill>
                <a:latin typeface="Noto Sans CJK SC"/>
                <a:ea typeface="Noto Sans CJK SC"/>
              </a:rPr>
              <a:t>。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1780423" y="12165350"/>
            <a:ext cx="7596000" cy="2052000"/>
          </a:xfrm>
          <a:prstGeom prst="roundRect">
            <a:avLst>
              <a:gd name="adj" fmla="val 6000"/>
            </a:avLst>
          </a:prstGeom>
          <a:solidFill>
            <a:srgbClr val="F3F7FC"/>
          </a:solidFill>
          <a:ln w="12700">
            <a:solidFill>
              <a:srgbClr val="C6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9" name="Oval 68"/>
          <p:cNvSpPr/>
          <p:nvPr/>
        </p:nvSpPr>
        <p:spPr>
          <a:xfrm>
            <a:off x="21996423" y="12435350"/>
            <a:ext cx="1512000" cy="1512000"/>
          </a:xfrm>
          <a:prstGeom prst="ellipse">
            <a:avLst/>
          </a:prstGeom>
          <a:solidFill>
            <a:srgbClr val="E5F6F1"/>
          </a:solidFill>
          <a:ln w="3302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0" name="TextBox 69"/>
          <p:cNvSpPr txBox="1"/>
          <p:nvPr/>
        </p:nvSpPr>
        <p:spPr>
          <a:xfrm>
            <a:off x="21996423" y="12715146"/>
            <a:ext cx="1512000" cy="952411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ctr"/>
            <a:r>
              <a:rPr sz="6000" b="1">
                <a:solidFill>
                  <a:srgbClr val="0C8074"/>
                </a:solidFill>
                <a:latin typeface="Noto Sans CJK SC"/>
                <a:ea typeface="Noto Sans CJK SC"/>
              </a:rPr>
              <a:t>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724423" y="12345350"/>
            <a:ext cx="5436000" cy="521524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/>
            <a:r>
              <a:rPr sz="3200" b="1">
                <a:solidFill>
                  <a:srgbClr val="0F1E33"/>
                </a:solidFill>
                <a:latin typeface="Noto Sans CJK SC"/>
                <a:ea typeface="Noto Sans CJK SC"/>
              </a:rPr>
              <a:t>Crash-Proof Execution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3724423" y="12866874"/>
            <a:ext cx="5436000" cy="1185295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连线即校验端口方向与类型；执行前</a:t>
            </a:r>
            <a:r>
              <a:rPr sz="2400" b="0" dirty="0">
                <a:solidFill>
                  <a:srgbClr val="556680"/>
                </a:solidFill>
                <a:latin typeface="Noto Sans CJK SC"/>
                <a:ea typeface="Noto Sans CJK SC"/>
              </a:rPr>
              <a:t> DAG </a:t>
            </a:r>
            <a:r>
              <a:rPr sz="24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校验</a:t>
            </a:r>
            <a:r>
              <a:rPr sz="2400" b="0" dirty="0">
                <a:solidFill>
                  <a:srgbClr val="556680"/>
                </a:solidFill>
                <a:latin typeface="Noto Sans CJK SC"/>
                <a:ea typeface="Noto Sans CJK SC"/>
              </a:rPr>
              <a:t> + </a:t>
            </a:r>
            <a:r>
              <a:rPr sz="24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拓扑排序，出错给明确中文提示并定位节点</a:t>
            </a:r>
            <a:r>
              <a:rPr sz="2400" b="0" dirty="0">
                <a:solidFill>
                  <a:srgbClr val="556680"/>
                </a:solidFill>
                <a:latin typeface="Noto Sans CJK SC"/>
                <a:ea typeface="Noto Sans CJK SC"/>
              </a:rPr>
              <a:t>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3968423" y="14361350"/>
            <a:ext cx="15408000" cy="887265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dirty="0" err="1">
                <a:solidFill>
                  <a:srgbClr val="0C8074"/>
                </a:solidFill>
                <a:latin typeface="Noto Sans CJK SC"/>
                <a:ea typeface="Noto Sans CJK SC"/>
              </a:rPr>
              <a:t>更多能力</a:t>
            </a:r>
            <a:r>
              <a:rPr sz="2800" b="1" dirty="0">
                <a:solidFill>
                  <a:srgbClr val="0C8074"/>
                </a:solidFill>
                <a:latin typeface="Noto Sans CJK SC"/>
                <a:ea typeface="Noto Sans CJK SC"/>
              </a:rPr>
              <a:t>  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撤销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/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重做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 · 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多画布标签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 · 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宏节点封装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 · 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拖线智能推荐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 · 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方案库模板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 · 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进度记录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/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版本对比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 · 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命令面板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 · 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拖放导入图片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/JSON · 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深浅主题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 · 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界面缩放</a:t>
            </a:r>
            <a:r>
              <a:rPr sz="2400" b="0" dirty="0">
                <a:solidFill>
                  <a:srgbClr val="2B3952"/>
                </a:solidFill>
                <a:latin typeface="Noto Sans CJK SC"/>
                <a:ea typeface="Noto Sans CJK SC"/>
              </a:rPr>
              <a:t> · </a:t>
            </a:r>
            <a:r>
              <a:rPr sz="24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跨平台</a:t>
            </a:r>
            <a:endParaRPr sz="2400" b="0" dirty="0">
              <a:solidFill>
                <a:srgbClr val="2B3952"/>
              </a:solidFill>
              <a:latin typeface="Noto Sans CJK SC"/>
              <a:ea typeface="Noto Sans CJK SC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13752423" y="15693350"/>
            <a:ext cx="15840000" cy="1296000"/>
          </a:xfrm>
          <a:prstGeom prst="roundRect">
            <a:avLst>
              <a:gd name="adj" fmla="val 5000"/>
            </a:avLst>
          </a:prstGeom>
          <a:solidFill>
            <a:srgbClr val="0E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5" name="Rectangle 74"/>
          <p:cNvSpPr/>
          <p:nvPr/>
        </p:nvSpPr>
        <p:spPr>
          <a:xfrm>
            <a:off x="13752423" y="16341350"/>
            <a:ext cx="15840000" cy="648000"/>
          </a:xfrm>
          <a:prstGeom prst="rect">
            <a:avLst/>
          </a:prstGeom>
          <a:solidFill>
            <a:srgbClr val="0E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6" name="TextBox 75"/>
          <p:cNvSpPr txBox="1"/>
          <p:nvPr/>
        </p:nvSpPr>
        <p:spPr>
          <a:xfrm>
            <a:off x="14040423" y="15957479"/>
            <a:ext cx="15264000" cy="767745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Noto Sans CJK SC"/>
                <a:ea typeface="Noto Sans CJK SC"/>
              </a:rPr>
              <a:t>02  NODE STATISTICS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4040423" y="16049812"/>
            <a:ext cx="15408000" cy="583079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r"/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</a:rPr>
              <a:t>节点构成 · 6 大类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3752423" y="16989350"/>
            <a:ext cx="15840000" cy="54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pic>
        <p:nvPicPr>
          <p:cNvPr id="79" name="Picture 78" descr="don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40423" y="17205350"/>
            <a:ext cx="4104000" cy="410400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8432423" y="17097350"/>
            <a:ext cx="10728000" cy="3928482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3200" b="1" dirty="0">
                <a:solidFill>
                  <a:srgbClr val="4EC9B0"/>
                </a:solidFill>
                <a:latin typeface="Noto Sans CJK SC"/>
                <a:ea typeface="Noto Sans CJK SC"/>
              </a:rPr>
              <a:t>■ </a:t>
            </a:r>
            <a:r>
              <a:rPr sz="3200" b="1" dirty="0" err="1">
                <a:solidFill>
                  <a:srgbClr val="0F1E33"/>
                </a:solidFill>
                <a:latin typeface="Noto Sans CJK SC"/>
                <a:ea typeface="Noto Sans CJK SC"/>
              </a:rPr>
              <a:t>输入输出</a:t>
            </a:r>
            <a:r>
              <a:rPr sz="3200" b="1" dirty="0">
                <a:solidFill>
                  <a:srgbClr val="0F1E33"/>
                </a:solidFill>
                <a:latin typeface="Noto Sans CJK SC"/>
                <a:ea typeface="Noto Sans CJK SC"/>
              </a:rPr>
              <a:t> I/O · 3  </a:t>
            </a:r>
            <a:r>
              <a:rPr sz="28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读入</a:t>
            </a:r>
            <a:r>
              <a:rPr sz="2800" b="0" dirty="0">
                <a:solidFill>
                  <a:srgbClr val="556680"/>
                </a:solidFill>
                <a:latin typeface="Noto Sans CJK SC"/>
                <a:ea typeface="Noto Sans CJK SC"/>
              </a:rPr>
              <a:t>/</a:t>
            </a:r>
            <a:r>
              <a:rPr sz="28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导出</a:t>
            </a:r>
            <a:r>
              <a:rPr sz="2800" b="0" dirty="0">
                <a:solidFill>
                  <a:srgbClr val="556680"/>
                </a:solidFill>
                <a:latin typeface="Noto Sans CJK SC"/>
                <a:ea typeface="Noto Sans CJK SC"/>
              </a:rPr>
              <a:t>/</a:t>
            </a:r>
            <a:r>
              <a:rPr sz="28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预览</a:t>
            </a:r>
            <a:endParaRPr sz="2800" b="0" dirty="0">
              <a:solidFill>
                <a:srgbClr val="556680"/>
              </a:solidFill>
              <a:latin typeface="Noto Sans CJK SC"/>
              <a:ea typeface="Noto Sans CJK SC"/>
            </a:endParaRPr>
          </a:p>
          <a:p>
            <a:pPr algn="l">
              <a:lnSpc>
                <a:spcPct val="134000"/>
              </a:lnSpc>
            </a:pPr>
            <a:r>
              <a:rPr sz="3200" b="1" dirty="0">
                <a:solidFill>
                  <a:srgbClr val="14B8A6"/>
                </a:solidFill>
                <a:latin typeface="Noto Sans CJK SC"/>
                <a:ea typeface="Noto Sans CJK SC"/>
              </a:rPr>
              <a:t>■ </a:t>
            </a:r>
            <a:r>
              <a:rPr sz="3200" b="1" dirty="0" err="1">
                <a:solidFill>
                  <a:srgbClr val="0F1E33"/>
                </a:solidFill>
                <a:latin typeface="Noto Sans CJK SC"/>
                <a:ea typeface="Noto Sans CJK SC"/>
              </a:rPr>
              <a:t>几何变换</a:t>
            </a:r>
            <a:r>
              <a:rPr sz="3200" b="1" dirty="0">
                <a:solidFill>
                  <a:srgbClr val="0F1E33"/>
                </a:solidFill>
                <a:latin typeface="Noto Sans CJK SC"/>
                <a:ea typeface="Noto Sans CJK SC"/>
              </a:rPr>
              <a:t> Geometry · 4  </a:t>
            </a:r>
            <a:r>
              <a:rPr sz="28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裁切</a:t>
            </a:r>
            <a:r>
              <a:rPr sz="2800" b="0" dirty="0">
                <a:solidFill>
                  <a:srgbClr val="556680"/>
                </a:solidFill>
                <a:latin typeface="Noto Sans CJK SC"/>
                <a:ea typeface="Noto Sans CJK SC"/>
              </a:rPr>
              <a:t>/</a:t>
            </a:r>
            <a:r>
              <a:rPr sz="28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缩放</a:t>
            </a:r>
            <a:r>
              <a:rPr sz="2800" b="0" dirty="0">
                <a:solidFill>
                  <a:srgbClr val="556680"/>
                </a:solidFill>
                <a:latin typeface="Noto Sans CJK SC"/>
                <a:ea typeface="Noto Sans CJK SC"/>
              </a:rPr>
              <a:t>/</a:t>
            </a:r>
            <a:r>
              <a:rPr sz="28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旋转翻转</a:t>
            </a:r>
            <a:r>
              <a:rPr sz="2800" b="0" dirty="0">
                <a:solidFill>
                  <a:srgbClr val="556680"/>
                </a:solidFill>
                <a:latin typeface="Noto Sans CJK SC"/>
                <a:ea typeface="Noto Sans CJK SC"/>
              </a:rPr>
              <a:t>/</a:t>
            </a:r>
            <a:r>
              <a:rPr sz="28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九宫格</a:t>
            </a:r>
            <a:endParaRPr sz="2800" b="0" dirty="0">
              <a:solidFill>
                <a:srgbClr val="556680"/>
              </a:solidFill>
              <a:latin typeface="Noto Sans CJK SC"/>
              <a:ea typeface="Noto Sans CJK SC"/>
            </a:endParaRPr>
          </a:p>
          <a:p>
            <a:pPr algn="l">
              <a:lnSpc>
                <a:spcPct val="134000"/>
              </a:lnSpc>
            </a:pPr>
            <a:r>
              <a:rPr sz="3200" b="1" dirty="0">
                <a:solidFill>
                  <a:srgbClr val="007ACC"/>
                </a:solidFill>
                <a:latin typeface="Noto Sans CJK SC"/>
                <a:ea typeface="Noto Sans CJK SC"/>
              </a:rPr>
              <a:t>■ </a:t>
            </a:r>
            <a:r>
              <a:rPr sz="3200" b="1" dirty="0" err="1">
                <a:solidFill>
                  <a:srgbClr val="0F1E33"/>
                </a:solidFill>
                <a:latin typeface="Noto Sans CJK SC"/>
                <a:ea typeface="Noto Sans CJK SC"/>
              </a:rPr>
              <a:t>色彩处理</a:t>
            </a:r>
            <a:r>
              <a:rPr sz="3200" b="1" dirty="0">
                <a:solidFill>
                  <a:srgbClr val="0F1E33"/>
                </a:solidFill>
                <a:latin typeface="Noto Sans CJK SC"/>
                <a:ea typeface="Noto Sans CJK SC"/>
              </a:rPr>
              <a:t> Color · 7  </a:t>
            </a:r>
            <a:r>
              <a:rPr sz="28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灰度</a:t>
            </a:r>
            <a:r>
              <a:rPr sz="2800" b="0" dirty="0">
                <a:solidFill>
                  <a:srgbClr val="556680"/>
                </a:solidFill>
                <a:latin typeface="Noto Sans CJK SC"/>
                <a:ea typeface="Noto Sans CJK SC"/>
              </a:rPr>
              <a:t>/</a:t>
            </a:r>
            <a:r>
              <a:rPr sz="28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亮度对比度</a:t>
            </a:r>
            <a:r>
              <a:rPr sz="2800" b="0" dirty="0">
                <a:solidFill>
                  <a:srgbClr val="556680"/>
                </a:solidFill>
                <a:latin typeface="Noto Sans CJK SC"/>
                <a:ea typeface="Noto Sans CJK SC"/>
              </a:rPr>
              <a:t>/</a:t>
            </a:r>
            <a:r>
              <a:rPr sz="28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反色</a:t>
            </a:r>
            <a:r>
              <a:rPr sz="2800" b="0" dirty="0">
                <a:solidFill>
                  <a:srgbClr val="556680"/>
                </a:solidFill>
                <a:latin typeface="Noto Sans CJK SC"/>
                <a:ea typeface="Noto Sans CJK SC"/>
              </a:rPr>
              <a:t>/</a:t>
            </a:r>
            <a:r>
              <a:rPr sz="28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阈值</a:t>
            </a:r>
            <a:r>
              <a:rPr sz="2800" b="0" dirty="0">
                <a:solidFill>
                  <a:srgbClr val="556680"/>
                </a:solidFill>
                <a:latin typeface="Noto Sans CJK SC"/>
                <a:ea typeface="Noto Sans CJK SC"/>
              </a:rPr>
              <a:t>/HSL/</a:t>
            </a:r>
            <a:r>
              <a:rPr sz="28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通道</a:t>
            </a:r>
            <a:endParaRPr sz="2800" b="0" dirty="0">
              <a:solidFill>
                <a:srgbClr val="556680"/>
              </a:solidFill>
              <a:latin typeface="Noto Sans CJK SC"/>
              <a:ea typeface="Noto Sans CJK SC"/>
            </a:endParaRPr>
          </a:p>
          <a:p>
            <a:pPr algn="l">
              <a:lnSpc>
                <a:spcPct val="134000"/>
              </a:lnSpc>
            </a:pPr>
            <a:r>
              <a:rPr sz="3200" b="1" dirty="0">
                <a:solidFill>
                  <a:srgbClr val="38A9D6"/>
                </a:solidFill>
                <a:latin typeface="Noto Sans CJK SC"/>
                <a:ea typeface="Noto Sans CJK SC"/>
              </a:rPr>
              <a:t>■ </a:t>
            </a:r>
            <a:r>
              <a:rPr sz="3200" b="1" dirty="0" err="1">
                <a:solidFill>
                  <a:srgbClr val="0F1E33"/>
                </a:solidFill>
                <a:latin typeface="Noto Sans CJK SC"/>
                <a:ea typeface="Noto Sans CJK SC"/>
              </a:rPr>
              <a:t>滤波</a:t>
            </a:r>
            <a:r>
              <a:rPr sz="3200" b="1" dirty="0">
                <a:solidFill>
                  <a:srgbClr val="0F1E33"/>
                </a:solidFill>
                <a:latin typeface="Noto Sans CJK SC"/>
                <a:ea typeface="Noto Sans CJK SC"/>
              </a:rPr>
              <a:t> Filter · 4  </a:t>
            </a:r>
            <a:r>
              <a:rPr sz="28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模糊</a:t>
            </a:r>
            <a:r>
              <a:rPr sz="2800" b="0" dirty="0">
                <a:solidFill>
                  <a:srgbClr val="556680"/>
                </a:solidFill>
                <a:latin typeface="Noto Sans CJK SC"/>
                <a:ea typeface="Noto Sans CJK SC"/>
              </a:rPr>
              <a:t>/</a:t>
            </a:r>
            <a:r>
              <a:rPr sz="28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锐化</a:t>
            </a:r>
            <a:r>
              <a:rPr sz="2800" b="0" dirty="0">
                <a:solidFill>
                  <a:srgbClr val="556680"/>
                </a:solidFill>
                <a:latin typeface="Noto Sans CJK SC"/>
                <a:ea typeface="Noto Sans CJK SC"/>
              </a:rPr>
              <a:t>/</a:t>
            </a:r>
            <a:r>
              <a:rPr sz="28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边缘检测</a:t>
            </a:r>
            <a:r>
              <a:rPr sz="2800" b="0" dirty="0">
                <a:solidFill>
                  <a:srgbClr val="556680"/>
                </a:solidFill>
                <a:latin typeface="Noto Sans CJK SC"/>
                <a:ea typeface="Noto Sans CJK SC"/>
              </a:rPr>
              <a:t>/</a:t>
            </a:r>
            <a:r>
              <a:rPr sz="28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像素化</a:t>
            </a:r>
            <a:endParaRPr sz="2800" b="0" dirty="0">
              <a:solidFill>
                <a:srgbClr val="556680"/>
              </a:solidFill>
              <a:latin typeface="Noto Sans CJK SC"/>
              <a:ea typeface="Noto Sans CJK SC"/>
            </a:endParaRPr>
          </a:p>
          <a:p>
            <a:pPr algn="l">
              <a:lnSpc>
                <a:spcPct val="134000"/>
              </a:lnSpc>
            </a:pPr>
            <a:r>
              <a:rPr sz="3200" b="1" dirty="0">
                <a:solidFill>
                  <a:srgbClr val="0D9488"/>
                </a:solidFill>
                <a:latin typeface="Noto Sans CJK SC"/>
                <a:ea typeface="Noto Sans CJK SC"/>
              </a:rPr>
              <a:t>■ </a:t>
            </a:r>
            <a:r>
              <a:rPr sz="3200" b="1" dirty="0" err="1">
                <a:solidFill>
                  <a:srgbClr val="0F1E33"/>
                </a:solidFill>
                <a:latin typeface="Noto Sans CJK SC"/>
                <a:ea typeface="Noto Sans CJK SC"/>
              </a:rPr>
              <a:t>合成</a:t>
            </a:r>
            <a:r>
              <a:rPr sz="3200" b="1" dirty="0">
                <a:solidFill>
                  <a:srgbClr val="0F1E33"/>
                </a:solidFill>
                <a:latin typeface="Noto Sans CJK SC"/>
                <a:ea typeface="Noto Sans CJK SC"/>
              </a:rPr>
              <a:t> Composite · 5  </a:t>
            </a:r>
            <a:r>
              <a:rPr sz="28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文字叠加</a:t>
            </a:r>
            <a:r>
              <a:rPr sz="2800" b="0" dirty="0">
                <a:solidFill>
                  <a:srgbClr val="556680"/>
                </a:solidFill>
                <a:latin typeface="Noto Sans CJK SC"/>
                <a:ea typeface="Noto Sans CJK SC"/>
              </a:rPr>
              <a:t>/</a:t>
            </a:r>
            <a:r>
              <a:rPr sz="28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双图混合</a:t>
            </a:r>
            <a:r>
              <a:rPr sz="2800" b="0" dirty="0">
                <a:solidFill>
                  <a:srgbClr val="556680"/>
                </a:solidFill>
                <a:latin typeface="Noto Sans CJK SC"/>
                <a:ea typeface="Noto Sans CJK SC"/>
              </a:rPr>
              <a:t>/</a:t>
            </a:r>
            <a:r>
              <a:rPr sz="28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拼接</a:t>
            </a:r>
            <a:r>
              <a:rPr sz="2800" b="0" dirty="0">
                <a:solidFill>
                  <a:srgbClr val="556680"/>
                </a:solidFill>
                <a:latin typeface="Noto Sans CJK SC"/>
                <a:ea typeface="Noto Sans CJK SC"/>
              </a:rPr>
              <a:t>/</a:t>
            </a:r>
            <a:r>
              <a:rPr sz="28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蒙版</a:t>
            </a:r>
            <a:r>
              <a:rPr sz="2800" b="0" dirty="0">
                <a:solidFill>
                  <a:srgbClr val="556680"/>
                </a:solidFill>
                <a:latin typeface="Noto Sans CJK SC"/>
                <a:ea typeface="Noto Sans CJK SC"/>
              </a:rPr>
              <a:t>/</a:t>
            </a:r>
            <a:r>
              <a:rPr sz="28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水印</a:t>
            </a:r>
            <a:endParaRPr sz="2800" b="0" dirty="0">
              <a:solidFill>
                <a:srgbClr val="556680"/>
              </a:solidFill>
              <a:latin typeface="Noto Sans CJK SC"/>
              <a:ea typeface="Noto Sans CJK SC"/>
            </a:endParaRPr>
          </a:p>
          <a:p>
            <a:pPr algn="l">
              <a:lnSpc>
                <a:spcPct val="134000"/>
              </a:lnSpc>
            </a:pPr>
            <a:r>
              <a:rPr sz="3200" b="1" dirty="0">
                <a:solidFill>
                  <a:srgbClr val="5EA9E0"/>
                </a:solidFill>
                <a:latin typeface="Noto Sans CJK SC"/>
                <a:ea typeface="Noto Sans CJK SC"/>
              </a:rPr>
              <a:t>■ </a:t>
            </a:r>
            <a:r>
              <a:rPr sz="3200" b="1" dirty="0" err="1">
                <a:solidFill>
                  <a:srgbClr val="0F1E33"/>
                </a:solidFill>
                <a:latin typeface="Noto Sans CJK SC"/>
                <a:ea typeface="Noto Sans CJK SC"/>
              </a:rPr>
              <a:t>批量</a:t>
            </a:r>
            <a:r>
              <a:rPr sz="3200" b="1" dirty="0">
                <a:solidFill>
                  <a:srgbClr val="0F1E33"/>
                </a:solidFill>
                <a:latin typeface="Noto Sans CJK SC"/>
                <a:ea typeface="Noto Sans CJK SC"/>
              </a:rPr>
              <a:t> Batch · 4  </a:t>
            </a:r>
            <a:r>
              <a:rPr sz="28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批量读入</a:t>
            </a:r>
            <a:r>
              <a:rPr sz="2800" b="0" dirty="0">
                <a:solidFill>
                  <a:srgbClr val="556680"/>
                </a:solidFill>
                <a:latin typeface="Noto Sans CJK SC"/>
                <a:ea typeface="Noto Sans CJK SC"/>
              </a:rPr>
              <a:t>/</a:t>
            </a:r>
            <a:r>
              <a:rPr sz="28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列表取图</a:t>
            </a:r>
            <a:r>
              <a:rPr sz="2800" b="0" dirty="0">
                <a:solidFill>
                  <a:srgbClr val="556680"/>
                </a:solidFill>
                <a:latin typeface="Noto Sans CJK SC"/>
                <a:ea typeface="Noto Sans CJK SC"/>
              </a:rPr>
              <a:t>/</a:t>
            </a:r>
            <a:r>
              <a:rPr sz="28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拼接</a:t>
            </a:r>
            <a:r>
              <a:rPr sz="2800" b="0" dirty="0">
                <a:solidFill>
                  <a:srgbClr val="556680"/>
                </a:solidFill>
                <a:latin typeface="Noto Sans CJK SC"/>
                <a:ea typeface="Noto Sans CJK SC"/>
              </a:rPr>
              <a:t>/</a:t>
            </a:r>
            <a:r>
              <a:rPr sz="28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导出</a:t>
            </a:r>
            <a:endParaRPr sz="2800" b="0" dirty="0">
              <a:solidFill>
                <a:srgbClr val="556680"/>
              </a:solidFill>
              <a:latin typeface="Noto Sans CJK SC"/>
              <a:ea typeface="Noto Sans CJK SC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13968423" y="21381350"/>
            <a:ext cx="3690000" cy="900000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 w="12700">
            <a:solidFill>
              <a:srgbClr val="C6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2" name="TextBox 81"/>
          <p:cNvSpPr txBox="1"/>
          <p:nvPr/>
        </p:nvSpPr>
        <p:spPr>
          <a:xfrm>
            <a:off x="14040423" y="21193557"/>
            <a:ext cx="3690000" cy="952411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ctr"/>
            <a:r>
              <a:rPr sz="6000" b="1" dirty="0">
                <a:solidFill>
                  <a:srgbClr val="0C8074"/>
                </a:solidFill>
                <a:latin typeface="Noto Sans CJK SC"/>
                <a:ea typeface="Noto Sans CJK SC"/>
              </a:rPr>
              <a:t>28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3968423" y="21993350"/>
            <a:ext cx="3690000" cy="336858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ctr"/>
            <a:r>
              <a:rPr sz="2000" b="0">
                <a:solidFill>
                  <a:srgbClr val="556680"/>
                </a:solidFill>
                <a:latin typeface="DejaVu Sans Mono"/>
                <a:ea typeface="DejaVu Sans Mono"/>
              </a:rPr>
              <a:t>NODE TYPES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7874423" y="21381350"/>
            <a:ext cx="3690000" cy="900000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 w="12700">
            <a:solidFill>
              <a:srgbClr val="C6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5" name="TextBox 84"/>
          <p:cNvSpPr txBox="1"/>
          <p:nvPr/>
        </p:nvSpPr>
        <p:spPr>
          <a:xfrm>
            <a:off x="17874423" y="21264456"/>
            <a:ext cx="3690000" cy="952411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ctr"/>
            <a:r>
              <a:rPr sz="6000" b="1" dirty="0">
                <a:solidFill>
                  <a:srgbClr val="007ACC"/>
                </a:solidFill>
                <a:latin typeface="Noto Sans CJK SC"/>
                <a:ea typeface="Noto Sans CJK SC"/>
              </a:rPr>
              <a:t>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7874423" y="21993350"/>
            <a:ext cx="3690000" cy="336858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ctr"/>
            <a:r>
              <a:rPr sz="2000" b="0">
                <a:solidFill>
                  <a:srgbClr val="556680"/>
                </a:solidFill>
                <a:latin typeface="DejaVu Sans Mono"/>
                <a:ea typeface="DejaVu Sans Mono"/>
              </a:rPr>
              <a:t>CATEGORIES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1780423" y="21381350"/>
            <a:ext cx="3690000" cy="900000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 w="12700">
            <a:solidFill>
              <a:srgbClr val="C6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8" name="TextBox 87"/>
          <p:cNvSpPr txBox="1"/>
          <p:nvPr/>
        </p:nvSpPr>
        <p:spPr>
          <a:xfrm>
            <a:off x="21780423" y="21234717"/>
            <a:ext cx="3690000" cy="952411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ctr"/>
            <a:r>
              <a:rPr sz="6000" b="1" dirty="0">
                <a:solidFill>
                  <a:srgbClr val="0C8074"/>
                </a:solidFill>
                <a:latin typeface="Noto Sans CJK SC"/>
                <a:ea typeface="Noto Sans CJK SC"/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780423" y="21993350"/>
            <a:ext cx="3690000" cy="336858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ctr"/>
            <a:r>
              <a:rPr sz="2000" b="0">
                <a:solidFill>
                  <a:srgbClr val="556680"/>
                </a:solidFill>
                <a:latin typeface="DejaVu Sans Mono"/>
                <a:ea typeface="DejaVu Sans Mono"/>
              </a:rPr>
              <a:t>GUI+CLI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5686423" y="21381350"/>
            <a:ext cx="3690000" cy="900000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 w="12700">
            <a:solidFill>
              <a:srgbClr val="C6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1" name="TextBox 90"/>
          <p:cNvSpPr txBox="1"/>
          <p:nvPr/>
        </p:nvSpPr>
        <p:spPr>
          <a:xfrm>
            <a:off x="25650423" y="21203934"/>
            <a:ext cx="3690000" cy="952411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ctr"/>
            <a:r>
              <a:rPr sz="6000" b="1" dirty="0">
                <a:solidFill>
                  <a:srgbClr val="007ACC"/>
                </a:solidFill>
                <a:latin typeface="Noto Sans CJK SC"/>
                <a:ea typeface="Noto Sans CJK SC"/>
              </a:rPr>
              <a:t>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5650423" y="21962532"/>
            <a:ext cx="3690000" cy="336858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ctr"/>
            <a:r>
              <a:rPr sz="2000" b="0" dirty="0">
                <a:solidFill>
                  <a:srgbClr val="556680"/>
                </a:solidFill>
                <a:latin typeface="DejaVu Sans Mono"/>
                <a:ea typeface="DejaVu Sans Mono"/>
              </a:rPr>
              <a:t>PLATFORMS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3752423" y="22605350"/>
            <a:ext cx="15840000" cy="1296000"/>
          </a:xfrm>
          <a:prstGeom prst="roundRect">
            <a:avLst>
              <a:gd name="adj" fmla="val 5000"/>
            </a:avLst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4" name="Rectangle 93"/>
          <p:cNvSpPr/>
          <p:nvPr/>
        </p:nvSpPr>
        <p:spPr>
          <a:xfrm>
            <a:off x="13752423" y="23253350"/>
            <a:ext cx="15840000" cy="648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5" name="TextBox 94"/>
          <p:cNvSpPr txBox="1"/>
          <p:nvPr/>
        </p:nvSpPr>
        <p:spPr>
          <a:xfrm>
            <a:off x="14040423" y="22900256"/>
            <a:ext cx="15264000" cy="706190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Noto Sans CJK SC"/>
                <a:ea typeface="Noto Sans CJK SC"/>
              </a:rPr>
              <a:t>03  COMMAND-LINE · picdeal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4040423" y="22961812"/>
            <a:ext cx="15408000" cy="583079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r"/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</a:rPr>
              <a:t>无界面批处理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3752423" y="23901350"/>
            <a:ext cx="15840000" cy="3528000"/>
          </a:xfrm>
          <a:prstGeom prst="rect">
            <a:avLst/>
          </a:prstGeom>
          <a:solidFill>
            <a:srgbClr val="0E1A2B"/>
          </a:solidFill>
          <a:ln w="12700">
            <a:solidFill>
              <a:srgbClr val="C6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8" name="TextBox 97"/>
          <p:cNvSpPr txBox="1"/>
          <p:nvPr/>
        </p:nvSpPr>
        <p:spPr>
          <a:xfrm>
            <a:off x="14040423" y="24045350"/>
            <a:ext cx="15264000" cy="3248039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2400" b="0">
                <a:solidFill>
                  <a:srgbClr val="6A9955"/>
                </a:solidFill>
                <a:latin typeface="DejaVu Sans Mono"/>
                <a:ea typeface="DejaVu Sans Mono"/>
              </a:rPr>
              <a:t>picdeal </a:t>
            </a:r>
            <a:r>
              <a:rPr sz="2400" b="1">
                <a:solidFill>
                  <a:srgbClr val="DCDCAA"/>
                </a:solidFill>
                <a:latin typeface="DejaVu Sans Mono"/>
                <a:ea typeface="DejaVu Sans Mono"/>
              </a:rPr>
              <a:t>pipe </a:t>
            </a:r>
            <a:r>
              <a:rPr sz="2400" b="0">
                <a:solidFill>
                  <a:srgbClr val="9CDCFE"/>
                </a:solidFill>
                <a:latin typeface="DejaVu Sans Mono"/>
                <a:ea typeface="DejaVu Sans Mono"/>
              </a:rPr>
              <a:t>-i in [--op …] -o out  </a:t>
            </a:r>
            <a:r>
              <a:rPr sz="2400" b="0">
                <a:solidFill>
                  <a:srgbClr val="9AA8C0"/>
                </a:solidFill>
                <a:latin typeface="Noto Sans CJK SC"/>
                <a:ea typeface="Noto Sans CJK SC"/>
              </a:rPr>
              <a:t>ffmpeg 式线性流水线并执行</a:t>
            </a:r>
          </a:p>
          <a:p>
            <a:pPr algn="l">
              <a:lnSpc>
                <a:spcPct val="126000"/>
              </a:lnSpc>
            </a:pPr>
            <a:r>
              <a:rPr sz="2400" b="0">
                <a:solidFill>
                  <a:srgbClr val="6A9955"/>
                </a:solidFill>
                <a:latin typeface="DejaVu Sans Mono"/>
                <a:ea typeface="DejaVu Sans Mono"/>
              </a:rPr>
              <a:t>picdeal </a:t>
            </a:r>
            <a:r>
              <a:rPr sz="2400" b="1">
                <a:solidFill>
                  <a:srgbClr val="DCDCAA"/>
                </a:solidFill>
                <a:latin typeface="DejaVu Sans Mono"/>
                <a:ea typeface="DejaVu Sans Mono"/>
              </a:rPr>
              <a:t>batch </a:t>
            </a:r>
            <a:r>
              <a:rPr sz="2400" b="0">
                <a:solidFill>
                  <a:srgbClr val="9CDCFE"/>
                </a:solidFill>
                <a:latin typeface="DejaVu Sans Mono"/>
                <a:ea typeface="DejaVu Sans Mono"/>
              </a:rPr>
              <a:t>-d dir -o dir [--op …]  </a:t>
            </a:r>
            <a:r>
              <a:rPr sz="2400" b="0">
                <a:solidFill>
                  <a:srgbClr val="9AA8C0"/>
                </a:solidFill>
                <a:latin typeface="Noto Sans CJK SC"/>
                <a:ea typeface="Noto Sans CJK SC"/>
              </a:rPr>
              <a:t>对目录内每张图套用同一流水线</a:t>
            </a:r>
          </a:p>
          <a:p>
            <a:pPr algn="l">
              <a:lnSpc>
                <a:spcPct val="126000"/>
              </a:lnSpc>
            </a:pPr>
            <a:r>
              <a:rPr sz="2400" b="0">
                <a:solidFill>
                  <a:srgbClr val="6A9955"/>
                </a:solidFill>
                <a:latin typeface="DejaVu Sans Mono"/>
                <a:ea typeface="DejaVu Sans Mono"/>
              </a:rPr>
              <a:t>picdeal </a:t>
            </a:r>
            <a:r>
              <a:rPr sz="2400" b="1">
                <a:solidFill>
                  <a:srgbClr val="DCDCAA"/>
                </a:solidFill>
                <a:latin typeface="DejaVu Sans Mono"/>
                <a:ea typeface="DejaVu Sans Mono"/>
              </a:rPr>
              <a:t>build </a:t>
            </a:r>
            <a:r>
              <a:rPr sz="2400" b="0">
                <a:solidFill>
                  <a:srgbClr val="9CDCFE"/>
                </a:solidFill>
                <a:latin typeface="DejaVu Sans Mono"/>
                <a:ea typeface="DejaVu Sans Mono"/>
              </a:rPr>
              <a:t>-i … --save flow.json  </a:t>
            </a:r>
            <a:r>
              <a:rPr sz="2400" b="0">
                <a:solidFill>
                  <a:srgbClr val="9AA8C0"/>
                </a:solidFill>
                <a:latin typeface="Noto Sans CJK SC"/>
                <a:ea typeface="Noto Sans CJK SC"/>
              </a:rPr>
              <a:t>构建并保存为工作流（GUI 可打开）</a:t>
            </a:r>
          </a:p>
          <a:p>
            <a:pPr algn="l">
              <a:lnSpc>
                <a:spcPct val="126000"/>
              </a:lnSpc>
            </a:pPr>
            <a:r>
              <a:rPr sz="2400" b="0">
                <a:solidFill>
                  <a:srgbClr val="6A9955"/>
                </a:solidFill>
                <a:latin typeface="DejaVu Sans Mono"/>
                <a:ea typeface="DejaVu Sans Mono"/>
              </a:rPr>
              <a:t>picdeal </a:t>
            </a:r>
            <a:r>
              <a:rPr sz="2400" b="1">
                <a:solidFill>
                  <a:srgbClr val="DCDCAA"/>
                </a:solidFill>
                <a:latin typeface="DejaVu Sans Mono"/>
                <a:ea typeface="DejaVu Sans Mono"/>
              </a:rPr>
              <a:t>run / validate </a:t>
            </a:r>
            <a:r>
              <a:rPr sz="2400" b="0">
                <a:solidFill>
                  <a:srgbClr val="9CDCFE"/>
                </a:solidFill>
                <a:latin typeface="DejaVu Sans Mono"/>
                <a:ea typeface="DejaVu Sans Mono"/>
              </a:rPr>
              <a:t>flow.json  </a:t>
            </a:r>
            <a:r>
              <a:rPr sz="2400" b="0">
                <a:solidFill>
                  <a:srgbClr val="9AA8C0"/>
                </a:solidFill>
                <a:latin typeface="Noto Sans CJK SC"/>
                <a:ea typeface="Noto Sans CJK SC"/>
              </a:rPr>
              <a:t>执行已保存工作流 / 仅校验</a:t>
            </a:r>
          </a:p>
          <a:p>
            <a:pPr algn="l">
              <a:lnSpc>
                <a:spcPct val="126000"/>
              </a:lnSpc>
            </a:pPr>
            <a:r>
              <a:rPr sz="2400" b="0">
                <a:solidFill>
                  <a:srgbClr val="6A9955"/>
                </a:solidFill>
                <a:latin typeface="DejaVu Sans Mono"/>
                <a:ea typeface="DejaVu Sans Mono"/>
              </a:rPr>
              <a:t>picdeal </a:t>
            </a:r>
            <a:r>
              <a:rPr sz="2400" b="1">
                <a:solidFill>
                  <a:srgbClr val="DCDCAA"/>
                </a:solidFill>
                <a:latin typeface="DejaVu Sans Mono"/>
                <a:ea typeface="DejaVu Sans Mono"/>
              </a:rPr>
              <a:t>nodes </a:t>
            </a:r>
            <a:r>
              <a:rPr sz="2400" b="0">
                <a:solidFill>
                  <a:srgbClr val="9CDCFE"/>
                </a:solidFill>
                <a:latin typeface="DejaVu Sans Mono"/>
                <a:ea typeface="DejaVu Sans Mono"/>
              </a:rPr>
              <a:t>  </a:t>
            </a:r>
            <a:r>
              <a:rPr sz="2400" b="0">
                <a:solidFill>
                  <a:srgbClr val="9AA8C0"/>
                </a:solidFill>
                <a:latin typeface="Noto Sans CJK SC"/>
                <a:ea typeface="Noto Sans CJK SC"/>
              </a:rPr>
              <a:t>列出全部节点与参数</a:t>
            </a:r>
          </a:p>
          <a:p>
            <a:pPr algn="l">
              <a:lnSpc>
                <a:spcPct val="126000"/>
              </a:lnSpc>
            </a:pPr>
            <a:r>
              <a:rPr sz="2400" b="0">
                <a:solidFill>
                  <a:srgbClr val="6A9955"/>
                </a:solidFill>
                <a:latin typeface="DejaVu Sans Mono"/>
                <a:ea typeface="DejaVu Sans Mono"/>
              </a:rPr>
              <a:t>picdeal </a:t>
            </a:r>
            <a:r>
              <a:rPr sz="2400" b="1">
                <a:solidFill>
                  <a:srgbClr val="DCDCAA"/>
                </a:solidFill>
                <a:latin typeface="DejaVu Sans Mono"/>
                <a:ea typeface="DejaVu Sans Mono"/>
              </a:rPr>
              <a:t>save / log / restore </a:t>
            </a:r>
            <a:r>
              <a:rPr sz="2400" b="0">
                <a:solidFill>
                  <a:srgbClr val="9CDCFE"/>
                </a:solidFill>
                <a:latin typeface="DejaVu Sans Mono"/>
                <a:ea typeface="DejaVu Sans Mono"/>
              </a:rPr>
              <a:t>  </a:t>
            </a:r>
            <a:r>
              <a:rPr sz="2400" b="0">
                <a:solidFill>
                  <a:srgbClr val="9AA8C0"/>
                </a:solidFill>
                <a:latin typeface="Noto Sans CJK SC"/>
                <a:ea typeface="Noto Sans CJK SC"/>
              </a:rPr>
              <a:t>类 git 保存历史（与 GUI 进度记录互通）</a:t>
            </a:r>
          </a:p>
          <a:p>
            <a:pPr algn="l">
              <a:lnSpc>
                <a:spcPct val="126000"/>
              </a:lnSpc>
            </a:pPr>
            <a:r>
              <a:rPr sz="2400" b="0">
                <a:solidFill>
                  <a:srgbClr val="6A9955"/>
                </a:solidFill>
                <a:latin typeface="Noto Sans CJK SC"/>
                <a:ea typeface="Noto Sans CJK SC"/>
              </a:rPr>
              <a:t>例 </a:t>
            </a:r>
            <a:r>
              <a:rPr sz="2400" b="0">
                <a:solidFill>
                  <a:srgbClr val="CE9178"/>
                </a:solidFill>
                <a:latin typeface="DejaVu Sans Mono"/>
                <a:ea typeface="DejaVu Sans Mono"/>
              </a:rPr>
              <a:t>picdeal pipe -i in.png --grayscale --blur 3 --resize 800x600 -o out.png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3752423" y="27573350"/>
            <a:ext cx="15840000" cy="1296000"/>
          </a:xfrm>
          <a:prstGeom prst="roundRect">
            <a:avLst>
              <a:gd name="adj" fmla="val 5000"/>
            </a:avLst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0" name="Rectangle 99"/>
          <p:cNvSpPr/>
          <p:nvPr/>
        </p:nvSpPr>
        <p:spPr>
          <a:xfrm>
            <a:off x="13752423" y="28221350"/>
            <a:ext cx="15840000" cy="648000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1" name="TextBox 100"/>
          <p:cNvSpPr txBox="1"/>
          <p:nvPr/>
        </p:nvSpPr>
        <p:spPr>
          <a:xfrm>
            <a:off x="14040423" y="27837479"/>
            <a:ext cx="15264000" cy="767745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Noto Sans CJK SC"/>
                <a:ea typeface="Noto Sans CJK SC"/>
              </a:rPr>
              <a:t>04  PERFORMANCE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4040423" y="27929812"/>
            <a:ext cx="15408000" cy="583079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r"/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</a:rPr>
              <a:t>性能优势 · C++ 原生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3752423" y="28869350"/>
            <a:ext cx="15840000" cy="518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4" name="Rounded Rectangle 103"/>
          <p:cNvSpPr/>
          <p:nvPr/>
        </p:nvSpPr>
        <p:spPr>
          <a:xfrm>
            <a:off x="13968423" y="29085350"/>
            <a:ext cx="4992000" cy="1224000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 w="12700">
            <a:solidFill>
              <a:srgbClr val="C6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5" name="TextBox 104"/>
          <p:cNvSpPr txBox="1"/>
          <p:nvPr/>
        </p:nvSpPr>
        <p:spPr>
          <a:xfrm>
            <a:off x="14148423" y="29193350"/>
            <a:ext cx="4632000" cy="767745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/>
            <a:r>
              <a:rPr sz="4800" b="1" dirty="0">
                <a:solidFill>
                  <a:srgbClr val="0C8074"/>
                </a:solidFill>
                <a:latin typeface="Noto Sans CJK SC"/>
                <a:ea typeface="Noto Sans CJK SC"/>
              </a:rPr>
              <a:t>O(1)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4121741" y="29858715"/>
            <a:ext cx="4632000" cy="336858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/>
            <a:r>
              <a:rPr sz="20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模糊耗时与半径无关</a:t>
            </a:r>
            <a:endParaRPr sz="2000" b="0" dirty="0">
              <a:solidFill>
                <a:srgbClr val="556680"/>
              </a:solidFill>
              <a:latin typeface="Noto Sans CJK SC"/>
              <a:ea typeface="Noto Sans CJK SC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19176423" y="29085350"/>
            <a:ext cx="4992000" cy="1224000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 w="12700">
            <a:solidFill>
              <a:srgbClr val="C6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8" name="TextBox 107"/>
          <p:cNvSpPr txBox="1"/>
          <p:nvPr/>
        </p:nvSpPr>
        <p:spPr>
          <a:xfrm>
            <a:off x="19356423" y="29193350"/>
            <a:ext cx="4632000" cy="767745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/>
            <a:r>
              <a:rPr sz="4800" b="1">
                <a:solidFill>
                  <a:srgbClr val="007ACC"/>
                </a:solidFill>
                <a:latin typeface="Noto Sans CJK SC"/>
                <a:ea typeface="Noto Sans CJK SC"/>
              </a:rPr>
              <a:t>≈4–6×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9356423" y="29912503"/>
            <a:ext cx="4632000" cy="336858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/>
            <a:r>
              <a:rPr sz="20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更低内存（无</a:t>
            </a:r>
            <a:r>
              <a:rPr sz="2000" b="0" dirty="0">
                <a:solidFill>
                  <a:srgbClr val="556680"/>
                </a:solidFill>
                <a:latin typeface="Noto Sans CJK SC"/>
                <a:ea typeface="Noto Sans CJK SC"/>
              </a:rPr>
              <a:t> Electron）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24384422" y="29085350"/>
            <a:ext cx="4992000" cy="1224000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 w="12700">
            <a:solidFill>
              <a:srgbClr val="C6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1" name="TextBox 110"/>
          <p:cNvSpPr txBox="1"/>
          <p:nvPr/>
        </p:nvSpPr>
        <p:spPr>
          <a:xfrm>
            <a:off x="24564422" y="29193350"/>
            <a:ext cx="4632000" cy="767745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/>
            <a:r>
              <a:rPr sz="4800" b="1">
                <a:solidFill>
                  <a:srgbClr val="0C8074"/>
                </a:solidFill>
                <a:latin typeface="Noto Sans CJK SC"/>
                <a:ea typeface="Noto Sans CJK SC"/>
              </a:rPr>
              <a:t>LRU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4561670" y="29885609"/>
            <a:ext cx="4632000" cy="336858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/>
            <a:r>
              <a:rPr sz="20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缓存复用，连续更快</a:t>
            </a:r>
            <a:endParaRPr sz="2000" b="0" dirty="0">
              <a:solidFill>
                <a:srgbClr val="556680"/>
              </a:solidFill>
              <a:latin typeface="Noto Sans CJK SC"/>
              <a:ea typeface="Noto Sans CJK SC"/>
            </a:endParaRPr>
          </a:p>
        </p:txBody>
      </p:sp>
      <p:pic>
        <p:nvPicPr>
          <p:cNvPr id="113" name="Picture 112" descr="bars_wi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68423" y="30489350"/>
            <a:ext cx="15408000" cy="3240000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14028929" y="33520110"/>
            <a:ext cx="15408000" cy="398413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/>
            <a:r>
              <a:rPr sz="24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相对吞吐</a:t>
            </a:r>
            <a:r>
              <a:rPr sz="2400" b="0" dirty="0">
                <a:solidFill>
                  <a:srgbClr val="556680"/>
                </a:solidFill>
                <a:latin typeface="Noto Sans CJK SC"/>
                <a:ea typeface="Noto Sans CJK SC"/>
              </a:rPr>
              <a:t> / </a:t>
            </a:r>
            <a:r>
              <a:rPr sz="24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处理速度谱（原生</a:t>
            </a:r>
            <a:r>
              <a:rPr sz="2400" b="0" dirty="0">
                <a:solidFill>
                  <a:srgbClr val="556680"/>
                </a:solidFill>
                <a:latin typeface="Noto Sans CJK SC"/>
                <a:ea typeface="Noto Sans CJK SC"/>
              </a:rPr>
              <a:t> C++ </a:t>
            </a:r>
            <a:r>
              <a:rPr sz="24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算法</a:t>
            </a:r>
            <a:r>
              <a:rPr sz="2400" b="0" dirty="0">
                <a:solidFill>
                  <a:srgbClr val="556680"/>
                </a:solidFill>
                <a:latin typeface="Noto Sans CJK SC"/>
                <a:ea typeface="Noto Sans CJK SC"/>
              </a:rPr>
              <a:t>）· </a:t>
            </a:r>
            <a:r>
              <a:rPr sz="2400" b="0" dirty="0" err="1">
                <a:solidFill>
                  <a:srgbClr val="556680"/>
                </a:solidFill>
                <a:latin typeface="Noto Sans CJK SC"/>
                <a:ea typeface="Noto Sans CJK SC"/>
              </a:rPr>
              <a:t>示意</a:t>
            </a:r>
            <a:r>
              <a:rPr sz="2400" b="0" dirty="0">
                <a:solidFill>
                  <a:srgbClr val="556680"/>
                </a:solidFill>
                <a:latin typeface="Noto Sans CJK SC"/>
                <a:ea typeface="Noto Sans CJK SC"/>
              </a:rPr>
              <a:t> ILLUSTRATIVE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468423" y="34269350"/>
            <a:ext cx="14400000" cy="799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6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6" name="Rounded Rectangle 115"/>
          <p:cNvSpPr/>
          <p:nvPr/>
        </p:nvSpPr>
        <p:spPr>
          <a:xfrm>
            <a:off x="468423" y="34269350"/>
            <a:ext cx="14400000" cy="1152000"/>
          </a:xfrm>
          <a:prstGeom prst="roundRect">
            <a:avLst>
              <a:gd name="adj" fmla="val 5000"/>
            </a:avLst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7" name="Rectangle 116"/>
          <p:cNvSpPr/>
          <p:nvPr/>
        </p:nvSpPr>
        <p:spPr>
          <a:xfrm>
            <a:off x="468423" y="34845350"/>
            <a:ext cx="14400000" cy="576000"/>
          </a:xfrm>
          <a:prstGeom prst="rect">
            <a:avLst/>
          </a:prstGeom>
          <a:solidFill>
            <a:srgbClr val="1E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8" name="TextBox 117"/>
          <p:cNvSpPr txBox="1"/>
          <p:nvPr/>
        </p:nvSpPr>
        <p:spPr>
          <a:xfrm>
            <a:off x="792423" y="34492256"/>
            <a:ext cx="13752000" cy="706190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Noto Sans CJK SC"/>
                <a:ea typeface="Noto Sans CJK SC"/>
              </a:rPr>
              <a:t>CHALLENGES → SOLUTIONS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92423" y="34615368"/>
            <a:ext cx="13896000" cy="459968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r"/>
            <a:r>
              <a:rPr sz="2800" b="1">
                <a:solidFill>
                  <a:srgbClr val="FFFFFF"/>
                </a:solidFill>
                <a:latin typeface="Noto Sans CJK SC"/>
                <a:ea typeface="Noto Sans CJK SC"/>
              </a:rPr>
              <a:t>实现难点 · 解决方法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48423" y="35836679"/>
            <a:ext cx="324000" cy="767745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l"/>
            <a:r>
              <a:rPr sz="2400" b="0">
                <a:solidFill>
                  <a:srgbClr val="556680"/>
                </a:solidFill>
                <a:latin typeface="DejaVu Sans Mono"/>
                <a:ea typeface="DejaVu Sans Mono"/>
              </a:rPr>
              <a:t>01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72423" y="35775124"/>
            <a:ext cx="6192000" cy="890856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l"/>
            <a:r>
              <a:rPr sz="2800" b="0">
                <a:solidFill>
                  <a:srgbClr val="2B3952"/>
                </a:solidFill>
                <a:latin typeface="Noto Sans CJK SC"/>
                <a:ea typeface="Noto Sans CJK SC"/>
              </a:rPr>
              <a:t>退出偶发崩溃：析构中信号回调访问到半析构对象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164423" y="35959789"/>
            <a:ext cx="432000" cy="521524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ctr"/>
            <a:r>
              <a:rPr sz="3200" b="1">
                <a:solidFill>
                  <a:srgbClr val="0C8074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668423" y="35775124"/>
            <a:ext cx="7056000" cy="890856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l"/>
            <a:r>
              <a:rPr sz="2800" b="1">
                <a:solidFill>
                  <a:srgbClr val="0C8074"/>
                </a:solidFill>
                <a:latin typeface="Noto Sans CJK SC"/>
                <a:ea typeface="Noto Sans CJK SC"/>
              </a:rPr>
              <a:t>析构开头先断开信号连接 + 「正在关闭」标志位兜底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20423" y="36875750"/>
            <a:ext cx="13896000" cy="10800"/>
          </a:xfrm>
          <a:prstGeom prst="rect">
            <a:avLst/>
          </a:prstGeom>
          <a:solidFill>
            <a:srgbClr val="C6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5" name="TextBox 124"/>
          <p:cNvSpPr txBox="1"/>
          <p:nvPr/>
        </p:nvSpPr>
        <p:spPr>
          <a:xfrm>
            <a:off x="648423" y="37147079"/>
            <a:ext cx="324000" cy="767745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l"/>
            <a:r>
              <a:rPr sz="2400" b="0">
                <a:solidFill>
                  <a:srgbClr val="556680"/>
                </a:solidFill>
                <a:latin typeface="DejaVu Sans Mono"/>
                <a:ea typeface="DejaVu Sans Mono"/>
              </a:rPr>
              <a:t>02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72423" y="37085524"/>
            <a:ext cx="6192000" cy="890856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l"/>
            <a:r>
              <a:rPr sz="2800" b="0">
                <a:solidFill>
                  <a:srgbClr val="2B3952"/>
                </a:solidFill>
                <a:latin typeface="Noto Sans CJK SC"/>
                <a:ea typeface="Noto Sans CJK SC"/>
              </a:rPr>
              <a:t>工作台侧栏一片黑：windeployqt 未部署 QML 模块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164423" y="37270189"/>
            <a:ext cx="432000" cy="521524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ctr"/>
            <a:r>
              <a:rPr sz="3200" b="1">
                <a:solidFill>
                  <a:srgbClr val="0C8074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668423" y="37300968"/>
            <a:ext cx="7056000" cy="459968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l"/>
            <a:r>
              <a:rPr sz="2800" b="1">
                <a:solidFill>
                  <a:srgbClr val="0C8074"/>
                </a:solidFill>
                <a:latin typeface="Noto Sans CJK SC"/>
                <a:ea typeface="Noto Sans CJK SC"/>
              </a:rPr>
              <a:t>windeployqt 加 --qmldir 指向 QML 源码目录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20423" y="38186150"/>
            <a:ext cx="13896000" cy="10800"/>
          </a:xfrm>
          <a:prstGeom prst="rect">
            <a:avLst/>
          </a:prstGeom>
          <a:solidFill>
            <a:srgbClr val="C6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0" name="TextBox 129"/>
          <p:cNvSpPr txBox="1"/>
          <p:nvPr/>
        </p:nvSpPr>
        <p:spPr>
          <a:xfrm>
            <a:off x="648423" y="38457479"/>
            <a:ext cx="324000" cy="767745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l"/>
            <a:r>
              <a:rPr sz="2400" b="0">
                <a:solidFill>
                  <a:srgbClr val="556680"/>
                </a:solidFill>
                <a:latin typeface="DejaVu Sans Mono"/>
                <a:ea typeface="DejaVu Sans Mono"/>
              </a:rPr>
              <a:t>03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72423" y="38395924"/>
            <a:ext cx="6192000" cy="890856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l"/>
            <a:r>
              <a:rPr sz="2800" b="0">
                <a:solidFill>
                  <a:srgbClr val="2B3952"/>
                </a:solidFill>
                <a:latin typeface="Noto Sans CJK SC"/>
                <a:ea typeface="Noto Sans CJK SC"/>
              </a:rPr>
              <a:t>命令行一启动就崩：缺 qoffscreen 离屏渲染插件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64423" y="38580589"/>
            <a:ext cx="432000" cy="521524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ctr"/>
            <a:r>
              <a:rPr sz="3200" b="1">
                <a:solidFill>
                  <a:srgbClr val="0C8074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668423" y="38611368"/>
            <a:ext cx="7056000" cy="459968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l"/>
            <a:r>
              <a:rPr sz="2800" b="1">
                <a:solidFill>
                  <a:srgbClr val="0C8074"/>
                </a:solidFill>
                <a:latin typeface="Noto Sans CJK SC"/>
                <a:ea typeface="Noto Sans CJK SC"/>
              </a:rPr>
              <a:t>构建后自动复制 qoffscreen.dll 到 platforms/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20423" y="39496550"/>
            <a:ext cx="13896000" cy="10800"/>
          </a:xfrm>
          <a:prstGeom prst="rect">
            <a:avLst/>
          </a:prstGeom>
          <a:solidFill>
            <a:srgbClr val="C6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5" name="TextBox 134"/>
          <p:cNvSpPr txBox="1"/>
          <p:nvPr/>
        </p:nvSpPr>
        <p:spPr>
          <a:xfrm>
            <a:off x="648423" y="39767879"/>
            <a:ext cx="324000" cy="767745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l"/>
            <a:r>
              <a:rPr sz="2400" b="0">
                <a:solidFill>
                  <a:srgbClr val="556680"/>
                </a:solidFill>
                <a:latin typeface="DejaVu Sans Mono"/>
                <a:ea typeface="DejaVu Sans Mono"/>
              </a:rPr>
              <a:t>04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72423" y="39706324"/>
            <a:ext cx="6192000" cy="890856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l"/>
            <a:r>
              <a:rPr sz="2800" b="0">
                <a:solidFill>
                  <a:srgbClr val="2B3952"/>
                </a:solidFill>
                <a:latin typeface="Noto Sans CJK SC"/>
                <a:ea typeface="Noto Sans CJK SC"/>
              </a:rPr>
              <a:t>大图模糊很慢：逐像素取邻域均值，半径大就卡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164423" y="39890989"/>
            <a:ext cx="432000" cy="521524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ctr"/>
            <a:r>
              <a:rPr sz="3200" b="1">
                <a:solidFill>
                  <a:srgbClr val="0C8074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668423" y="39706324"/>
            <a:ext cx="7056000" cy="890856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l"/>
            <a:r>
              <a:rPr sz="2800" b="1">
                <a:solidFill>
                  <a:srgbClr val="0C8074"/>
                </a:solidFill>
                <a:latin typeface="Noto Sans CJK SC"/>
                <a:ea typeface="Noto Sans CJK SC"/>
              </a:rPr>
              <a:t>改「滑动窗口」均值算法（与半径无关）+ LRU 缓存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20423" y="40806950"/>
            <a:ext cx="13896000" cy="10800"/>
          </a:xfrm>
          <a:prstGeom prst="rect">
            <a:avLst/>
          </a:prstGeom>
          <a:solidFill>
            <a:srgbClr val="C6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0" name="TextBox 139"/>
          <p:cNvSpPr txBox="1"/>
          <p:nvPr/>
        </p:nvSpPr>
        <p:spPr>
          <a:xfrm>
            <a:off x="648423" y="41078279"/>
            <a:ext cx="324000" cy="767745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l"/>
            <a:r>
              <a:rPr sz="2400" b="0">
                <a:solidFill>
                  <a:srgbClr val="556680"/>
                </a:solidFill>
                <a:latin typeface="DejaVu Sans Mono"/>
                <a:ea typeface="DejaVu Sans Mono"/>
              </a:rPr>
              <a:t>05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72423" y="41016724"/>
            <a:ext cx="6192000" cy="890856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l"/>
            <a:r>
              <a:rPr sz="2800" b="0">
                <a:solidFill>
                  <a:srgbClr val="2B3952"/>
                </a:solidFill>
                <a:latin typeface="Noto Sans CJK SC"/>
                <a:ea typeface="Noto Sans CJK SC"/>
              </a:rPr>
              <a:t>既交 VS 工程又迁移 macOS：两套构建体系冲突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164423" y="41201389"/>
            <a:ext cx="432000" cy="521524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ctr"/>
            <a:r>
              <a:rPr sz="3200" b="1">
                <a:solidFill>
                  <a:srgbClr val="0C8074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68423" y="41232168"/>
            <a:ext cx="7056000" cy="459968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l"/>
            <a:r>
              <a:rPr sz="2800" b="1">
                <a:solidFill>
                  <a:srgbClr val="0C8074"/>
                </a:solidFill>
                <a:latin typeface="Noto Sans CJK SC"/>
                <a:ea typeface="Noto Sans CJK SC"/>
              </a:rPr>
              <a:t>双构建并存：.slnx/.vcxproj + CMakeLists 同源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5156423" y="34269350"/>
            <a:ext cx="14436000" cy="38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6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5" name="Rounded Rectangle 144"/>
          <p:cNvSpPr/>
          <p:nvPr/>
        </p:nvSpPr>
        <p:spPr>
          <a:xfrm>
            <a:off x="15156423" y="34269350"/>
            <a:ext cx="14436000" cy="1080000"/>
          </a:xfrm>
          <a:prstGeom prst="roundRect">
            <a:avLst>
              <a:gd name="adj" fmla="val 6000"/>
            </a:avLst>
          </a:prstGeom>
          <a:solidFill>
            <a:srgbClr val="0E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6" name="Rectangle 145"/>
          <p:cNvSpPr/>
          <p:nvPr/>
        </p:nvSpPr>
        <p:spPr>
          <a:xfrm>
            <a:off x="15156423" y="34809350"/>
            <a:ext cx="14436000" cy="540000"/>
          </a:xfrm>
          <a:prstGeom prst="rect">
            <a:avLst/>
          </a:prstGeom>
          <a:solidFill>
            <a:srgbClr val="0E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7" name="TextBox 146"/>
          <p:cNvSpPr txBox="1"/>
          <p:nvPr/>
        </p:nvSpPr>
        <p:spPr>
          <a:xfrm>
            <a:off x="15480423" y="34456256"/>
            <a:ext cx="13788000" cy="706190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Noto Sans CJK SC"/>
                <a:ea typeface="Noto Sans CJK SC"/>
              </a:rPr>
              <a:t>CONCLUSION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5480423" y="34579368"/>
            <a:ext cx="13932000" cy="459968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r"/>
            <a:r>
              <a:rPr sz="2800" b="1">
                <a:solidFill>
                  <a:srgbClr val="FFFFFF"/>
                </a:solidFill>
                <a:latin typeface="Noto Sans CJK SC"/>
                <a:ea typeface="Noto Sans CJK SC"/>
              </a:rPr>
              <a:t>实现项目的心得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5480423" y="35493350"/>
            <a:ext cx="13788000" cy="2496039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00" b="0" dirty="0">
                <a:solidFill>
                  <a:srgbClr val="2B3952"/>
                </a:solidFill>
                <a:latin typeface="Noto Sans CJK SC"/>
                <a:ea typeface="Noto Sans CJK SC"/>
              </a:rPr>
              <a:t>最深的两点体会。其一，分层与多态真的很</a:t>
            </a:r>
            <a:r>
              <a:rPr lang="en-US" sz="2800" dirty="0">
                <a:solidFill>
                  <a:srgbClr val="2B3952"/>
                </a:solidFill>
                <a:latin typeface="Noto Sans CJK SC"/>
                <a:ea typeface="Noto Sans CJK SC"/>
              </a:rPr>
              <a:t>好用</a:t>
            </a:r>
            <a:r>
              <a:rPr sz="2800" b="0" dirty="0">
                <a:solidFill>
                  <a:srgbClr val="2B3952"/>
                </a:solidFill>
                <a:latin typeface="Noto Sans CJK SC"/>
                <a:ea typeface="Noto Sans CJK SC"/>
              </a:rPr>
              <a:t>：一开始就把界面、模型、算法、执行分开，加节点基本只写一个算法函数再注册一行，后期扩到 27 </a:t>
            </a:r>
            <a:r>
              <a:rPr sz="28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个节点也</a:t>
            </a:r>
            <a:r>
              <a:rPr lang="zh-CN" altLang="en-US" sz="2800" b="0" dirty="0">
                <a:solidFill>
                  <a:srgbClr val="2B3952"/>
                </a:solidFill>
                <a:latin typeface="Noto Sans CJK SC"/>
                <a:ea typeface="Noto Sans CJK SC"/>
              </a:rPr>
              <a:t>会很混乱或者代码冗余</a:t>
            </a:r>
            <a:r>
              <a:rPr sz="2800" b="0" dirty="0">
                <a:solidFill>
                  <a:srgbClr val="2B3952"/>
                </a:solidFill>
                <a:latin typeface="Noto Sans CJK SC"/>
                <a:ea typeface="Noto Sans CJK SC"/>
              </a:rPr>
              <a:t>；</a:t>
            </a:r>
            <a:r>
              <a:rPr sz="28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若全堆在一个文件里早就改不动了。其二，跨平台与部署比算法本身更费时间：真正反复折腾的是打包缺插件、QML</a:t>
            </a:r>
            <a:r>
              <a:rPr sz="2800" b="0" dirty="0">
                <a:solidFill>
                  <a:srgbClr val="2B3952"/>
                </a:solidFill>
                <a:latin typeface="Noto Sans CJK SC"/>
                <a:ea typeface="Noto Sans CJK SC"/>
              </a:rPr>
              <a:t> </a:t>
            </a:r>
            <a:r>
              <a:rPr sz="28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黑屏、构建配置这些环境问题</a:t>
            </a:r>
            <a:r>
              <a:rPr sz="2800" b="0" dirty="0">
                <a:solidFill>
                  <a:srgbClr val="2B3952"/>
                </a:solidFill>
                <a:latin typeface="Noto Sans CJK SC"/>
                <a:ea typeface="Noto Sans CJK SC"/>
              </a:rPr>
              <a:t>——</a:t>
            </a:r>
            <a:r>
              <a:rPr sz="28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让我体会到「能跑」和「在别人机器上也能跑」完全是两回事</a:t>
            </a:r>
            <a:r>
              <a:rPr sz="2800" b="0" dirty="0">
                <a:solidFill>
                  <a:srgbClr val="2B3952"/>
                </a:solidFill>
                <a:latin typeface="Noto Sans CJK SC"/>
                <a:ea typeface="Noto Sans CJK SC"/>
              </a:rPr>
              <a:t>。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15156423" y="38445350"/>
            <a:ext cx="14436000" cy="38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6D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1" name="Rounded Rectangle 150"/>
          <p:cNvSpPr/>
          <p:nvPr/>
        </p:nvSpPr>
        <p:spPr>
          <a:xfrm>
            <a:off x="15156423" y="38445350"/>
            <a:ext cx="14436000" cy="1080000"/>
          </a:xfrm>
          <a:prstGeom prst="roundRect">
            <a:avLst>
              <a:gd name="adj" fmla="val 6000"/>
            </a:avLst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2" name="Rectangle 151"/>
          <p:cNvSpPr/>
          <p:nvPr/>
        </p:nvSpPr>
        <p:spPr>
          <a:xfrm>
            <a:off x="15156423" y="38985350"/>
            <a:ext cx="14436000" cy="540000"/>
          </a:xfrm>
          <a:prstGeom prst="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3" name="TextBox 152"/>
          <p:cNvSpPr txBox="1"/>
          <p:nvPr/>
        </p:nvSpPr>
        <p:spPr>
          <a:xfrm>
            <a:off x="15480423" y="38632256"/>
            <a:ext cx="13788000" cy="706190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Noto Sans CJK SC"/>
                <a:ea typeface="Noto Sans CJK SC"/>
              </a:rPr>
              <a:t>AI PAIR-ENGINEER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5480423" y="38755368"/>
            <a:ext cx="13932000" cy="459968"/>
          </a:xfrm>
          <a:prstGeom prst="rect">
            <a:avLst/>
          </a:prstGeom>
          <a:noFill/>
        </p:spPr>
        <p:txBody>
          <a:bodyPr wrap="square" lIns="36000" tIns="14400" rIns="36000" bIns="14400" anchor="ctr">
            <a:spAutoFit/>
          </a:bodyPr>
          <a:lstStyle/>
          <a:p>
            <a:pPr algn="r"/>
            <a:r>
              <a:rPr sz="2800" b="1">
                <a:solidFill>
                  <a:srgbClr val="FFFFFF"/>
                </a:solidFill>
                <a:latin typeface="Noto Sans CJK SC"/>
                <a:ea typeface="Noto Sans CJK SC"/>
              </a:rPr>
              <a:t>我与我的智慧助手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5480423" y="39669350"/>
            <a:ext cx="13788000" cy="1996223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我把</a:t>
            </a:r>
            <a:r>
              <a:rPr sz="2800" b="0" dirty="0">
                <a:solidFill>
                  <a:srgbClr val="2B3952"/>
                </a:solidFill>
                <a:latin typeface="Noto Sans CJK SC"/>
                <a:ea typeface="Noto Sans CJK SC"/>
              </a:rPr>
              <a:t> AI </a:t>
            </a:r>
            <a:r>
              <a:rPr sz="28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助手（Claude</a:t>
            </a:r>
            <a:r>
              <a:rPr sz="2800" b="0" dirty="0">
                <a:solidFill>
                  <a:srgbClr val="2B3952"/>
                </a:solidFill>
                <a:latin typeface="Noto Sans CJK SC"/>
                <a:ea typeface="Noto Sans CJK SC"/>
              </a:rPr>
              <a:t> </a:t>
            </a:r>
            <a:r>
              <a:rPr sz="28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Code）当作「结对工程师</a:t>
            </a:r>
            <a:r>
              <a:rPr sz="2800" b="0" dirty="0">
                <a:solidFill>
                  <a:srgbClr val="2B3952"/>
                </a:solidFill>
                <a:latin typeface="Noto Sans CJK SC"/>
                <a:ea typeface="Noto Sans CJK SC"/>
              </a:rPr>
              <a:t>」：</a:t>
            </a:r>
            <a:r>
              <a:rPr sz="28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帮我梳理需求与模块划分、生成骨架代码、快速定位编译错误与</a:t>
            </a:r>
            <a:r>
              <a:rPr sz="2800" b="0" dirty="0">
                <a:solidFill>
                  <a:srgbClr val="2B3952"/>
                </a:solidFill>
                <a:latin typeface="Noto Sans CJK SC"/>
                <a:ea typeface="Noto Sans CJK SC"/>
              </a:rPr>
              <a:t> Qt </a:t>
            </a:r>
            <a:r>
              <a:rPr sz="28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接口兼容问题、并在崩溃时帮我分析调用链。但架构决策、算法实现与最终把关仍由我主导</a:t>
            </a:r>
            <a:r>
              <a:rPr sz="2800" b="0" dirty="0">
                <a:solidFill>
                  <a:srgbClr val="2B3952"/>
                </a:solidFill>
                <a:latin typeface="Noto Sans CJK SC"/>
                <a:ea typeface="Noto Sans CJK SC"/>
              </a:rPr>
              <a:t>——</a:t>
            </a:r>
            <a:r>
              <a:rPr sz="2800" b="0" dirty="0" err="1">
                <a:solidFill>
                  <a:srgbClr val="2B3952"/>
                </a:solidFill>
                <a:latin typeface="Noto Sans CJK SC"/>
                <a:ea typeface="Noto Sans CJK SC"/>
              </a:rPr>
              <a:t>工具负责提速，自己得看得懂、把得住关，否则出了问题也不知错在哪</a:t>
            </a:r>
            <a:r>
              <a:rPr sz="2800" b="0" dirty="0">
                <a:solidFill>
                  <a:srgbClr val="2B3952"/>
                </a:solidFill>
                <a:latin typeface="Noto Sans CJK SC"/>
                <a:ea typeface="Noto Sans CJK SC"/>
              </a:rPr>
              <a:t>。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68423" y="42315932"/>
            <a:ext cx="20160000" cy="427780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l"/>
            <a:r>
              <a:rPr sz="1250" b="0" dirty="0">
                <a:solidFill>
                  <a:srgbClr val="556680"/>
                </a:solidFill>
                <a:latin typeface="DejaVu Sans Mono"/>
                <a:ea typeface="DejaVu Sans Mono"/>
              </a:rPr>
              <a:t>● </a:t>
            </a:r>
            <a:r>
              <a:rPr sz="1250" b="0" dirty="0" err="1">
                <a:solidFill>
                  <a:srgbClr val="556680"/>
                </a:solidFill>
                <a:latin typeface="DejaVu Sans Mono"/>
                <a:ea typeface="DejaVu Sans Mono"/>
              </a:rPr>
              <a:t>ImageNodeEditor</a:t>
            </a:r>
            <a:r>
              <a:rPr sz="1250" b="0" dirty="0">
                <a:solidFill>
                  <a:srgbClr val="556680"/>
                </a:solidFill>
                <a:latin typeface="DejaVu Sans Mono"/>
                <a:ea typeface="DejaVu Sans Mono"/>
              </a:rPr>
              <a:t> · 2026 </a:t>
            </a:r>
            <a:r>
              <a:rPr sz="1250" b="0" dirty="0" err="1">
                <a:solidFill>
                  <a:srgbClr val="556680"/>
                </a:solidFill>
                <a:latin typeface="DejaVu Sans Mono"/>
                <a:ea typeface="DejaVu Sans Mono"/>
              </a:rPr>
              <a:t>期末报告</a:t>
            </a:r>
            <a:r>
              <a:rPr sz="1250" b="0" dirty="0">
                <a:solidFill>
                  <a:srgbClr val="556680"/>
                </a:solidFill>
                <a:latin typeface="DejaVu Sans Mono"/>
                <a:ea typeface="DejaVu Sans Mono"/>
              </a:rPr>
              <a:t>  |  27 built-in nodes + 1 macro · 6 categories  |  GUI + </a:t>
            </a:r>
            <a:r>
              <a:rPr sz="1250" b="0" dirty="0" err="1">
                <a:solidFill>
                  <a:srgbClr val="556680"/>
                </a:solidFill>
                <a:latin typeface="DejaVu Sans Mono"/>
                <a:ea typeface="DejaVu Sans Mono"/>
              </a:rPr>
              <a:t>picdeal</a:t>
            </a:r>
            <a:r>
              <a:rPr sz="1250" b="0" dirty="0">
                <a:solidFill>
                  <a:srgbClr val="556680"/>
                </a:solidFill>
                <a:latin typeface="DejaVu Sans Mono"/>
                <a:ea typeface="DejaVu Sans Mono"/>
              </a:rPr>
              <a:t> CLI</a:t>
            </a:r>
            <a:endParaRPr lang="en-US" sz="1250" b="0" dirty="0">
              <a:solidFill>
                <a:srgbClr val="556680"/>
              </a:solidFill>
              <a:latin typeface="DejaVu Sans Mono"/>
              <a:ea typeface="DejaVu Sans Mono"/>
            </a:endParaRPr>
          </a:p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556680"/>
                </a:solidFill>
                <a:latin typeface="DejaVu Sans Mono"/>
                <a:ea typeface="DejaVu Sans Mono"/>
              </a:rPr>
              <a:t>To Learn More ,Click this URL: https://</a:t>
            </a:r>
            <a:r>
              <a:rPr lang="en-US" sz="1250" dirty="0" err="1">
                <a:solidFill>
                  <a:srgbClr val="556680"/>
                </a:solidFill>
                <a:latin typeface="DejaVu Sans Mono"/>
                <a:ea typeface="DejaVu Sans Mono"/>
              </a:rPr>
              <a:t>github.com</a:t>
            </a:r>
            <a:r>
              <a:rPr lang="en-US" sz="1250" dirty="0">
                <a:solidFill>
                  <a:srgbClr val="556680"/>
                </a:solidFill>
                <a:latin typeface="DejaVu Sans Mono"/>
                <a:ea typeface="DejaVu Sans Mono"/>
              </a:rPr>
              <a:t>/StrongerOK777/</a:t>
            </a:r>
            <a:r>
              <a:rPr lang="en-US" sz="1250" dirty="0" err="1">
                <a:solidFill>
                  <a:srgbClr val="556680"/>
                </a:solidFill>
                <a:latin typeface="DejaVu Sans Mono"/>
                <a:ea typeface="DejaVu Sans Mono"/>
              </a:rPr>
              <a:t>QtBasedWorkFlow</a:t>
            </a:r>
            <a:endParaRPr sz="1250" b="0" dirty="0">
              <a:solidFill>
                <a:srgbClr val="556680"/>
              </a:solidFill>
              <a:latin typeface="DejaVu Sans Mono"/>
              <a:ea typeface="DejaVu Sans Mono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20052423" y="42405350"/>
            <a:ext cx="9540000" cy="398413"/>
          </a:xfrm>
          <a:prstGeom prst="rect">
            <a:avLst/>
          </a:prstGeom>
          <a:noFill/>
        </p:spPr>
        <p:txBody>
          <a:bodyPr wrap="square" lIns="36000" tIns="14400" rIns="36000" bIns="14400" anchor="t">
            <a:spAutoFit/>
          </a:bodyPr>
          <a:lstStyle/>
          <a:p>
            <a:pPr algn="r"/>
            <a:r>
              <a:rPr sz="2400" b="0" dirty="0">
                <a:solidFill>
                  <a:srgbClr val="556680"/>
                </a:solidFill>
                <a:latin typeface="DejaVu Sans Mono"/>
                <a:ea typeface="DejaVu Sans Mono"/>
              </a:rPr>
              <a:t>C++17 / Qt 6.8 / </a:t>
            </a:r>
            <a:r>
              <a:rPr sz="2400" b="0" dirty="0" err="1">
                <a:solidFill>
                  <a:srgbClr val="556680"/>
                </a:solidFill>
                <a:latin typeface="DejaVu Sans Mono"/>
                <a:ea typeface="DejaVu Sans Mono"/>
              </a:rPr>
              <a:t>CMake</a:t>
            </a:r>
            <a:r>
              <a:rPr sz="2400" b="0" dirty="0">
                <a:solidFill>
                  <a:srgbClr val="556680"/>
                </a:solidFill>
                <a:latin typeface="DejaVu Sans Mono"/>
                <a:ea typeface="DejaVu Sans Mono"/>
              </a:rPr>
              <a:t> · Win · macOS · Linux</a:t>
            </a:r>
          </a:p>
        </p:txBody>
      </p:sp>
      <p:sp>
        <p:nvSpPr>
          <p:cNvPr id="161" name="TextBox 5">
            <a:extLst>
              <a:ext uri="{FF2B5EF4-FFF2-40B4-BE49-F238E27FC236}">
                <a16:creationId xmlns:a16="http://schemas.microsoft.com/office/drawing/2014/main" id="{FB99CE4D-889C-AB40-3E2D-00C8D26383B0}"/>
              </a:ext>
            </a:extLst>
          </p:cNvPr>
          <p:cNvSpPr txBox="1"/>
          <p:nvPr/>
        </p:nvSpPr>
        <p:spPr>
          <a:xfrm>
            <a:off x="17334423" y="115434"/>
            <a:ext cx="12780000" cy="467239"/>
          </a:xfrm>
          <a:prstGeom prst="rect">
            <a:avLst/>
          </a:prstGeom>
          <a:noFill/>
        </p:spPr>
        <p:txBody>
          <a:bodyPr wrap="square" lIns="43200" tIns="18000" rIns="43200" bIns="18000" anchor="t">
            <a:spAutoFit/>
          </a:bodyPr>
          <a:lstStyle/>
          <a:p>
            <a:pPr algn="r"/>
            <a:r>
              <a:rPr sz="2800" b="1" dirty="0">
                <a:solidFill>
                  <a:srgbClr val="2B3952"/>
                </a:solidFill>
                <a:latin typeface="DejaVu Sans Mono"/>
                <a:ea typeface="DejaVu Sans Mono"/>
              </a:rPr>
              <a:t>C++17 · Qt 6.8 · </a:t>
            </a:r>
            <a:r>
              <a:rPr sz="2800" b="1" dirty="0" err="1">
                <a:solidFill>
                  <a:srgbClr val="2B3952"/>
                </a:solidFill>
                <a:latin typeface="DejaVu Sans Mono"/>
                <a:ea typeface="DejaVu Sans Mono"/>
              </a:rPr>
              <a:t>CMake</a:t>
            </a:r>
            <a:r>
              <a:rPr sz="2800" b="1" dirty="0">
                <a:solidFill>
                  <a:srgbClr val="2B3952"/>
                </a:solidFill>
                <a:latin typeface="DejaVu Sans Mono"/>
                <a:ea typeface="DejaVu Sans Mono"/>
              </a:rPr>
              <a:t> · </a:t>
            </a:r>
            <a:r>
              <a:rPr sz="2800" b="1" dirty="0" err="1">
                <a:solidFill>
                  <a:srgbClr val="2B3952"/>
                </a:solidFill>
                <a:latin typeface="DejaVu Sans Mono"/>
                <a:ea typeface="DejaVu Sans Mono"/>
              </a:rPr>
              <a:t>QtNodes</a:t>
            </a:r>
            <a:r>
              <a:rPr sz="2800" b="1" dirty="0">
                <a:solidFill>
                  <a:srgbClr val="2B3952"/>
                </a:solidFill>
                <a:latin typeface="DejaVu Sans Mono"/>
                <a:ea typeface="DejaVu Sans Mono"/>
              </a:rPr>
              <a:t> · 27+1 · GUI+CLI</a:t>
            </a:r>
          </a:p>
        </p:txBody>
      </p:sp>
      <p:sp>
        <p:nvSpPr>
          <p:cNvPr id="162" name="TextBox 6">
            <a:extLst>
              <a:ext uri="{FF2B5EF4-FFF2-40B4-BE49-F238E27FC236}">
                <a16:creationId xmlns:a16="http://schemas.microsoft.com/office/drawing/2014/main" id="{A078AFE2-2B19-2158-3DA4-BCCC346098FE}"/>
              </a:ext>
            </a:extLst>
          </p:cNvPr>
          <p:cNvSpPr txBox="1"/>
          <p:nvPr/>
        </p:nvSpPr>
        <p:spPr>
          <a:xfrm>
            <a:off x="16812423" y="2966426"/>
            <a:ext cx="12780000" cy="1575234"/>
          </a:xfrm>
          <a:prstGeom prst="rect">
            <a:avLst/>
          </a:prstGeom>
          <a:noFill/>
        </p:spPr>
        <p:txBody>
          <a:bodyPr wrap="square" lIns="43200" tIns="18000" rIns="43200" bIns="18000" anchor="t">
            <a:spAutoFit/>
          </a:bodyPr>
          <a:lstStyle/>
          <a:p>
            <a:pPr algn="r"/>
            <a:r>
              <a:rPr lang="en-US" altLang="zh-CN" sz="2500" b="0" dirty="0">
                <a:solidFill>
                  <a:srgbClr val="5C6E88"/>
                </a:solidFill>
                <a:latin typeface="DejaVu Sans Mono"/>
                <a:ea typeface="DejaVu Sans Mono"/>
              </a:rPr>
              <a:t>Author : </a:t>
            </a:r>
            <a:r>
              <a:rPr lang="en-US" altLang="zh-CN" sz="2500" b="0" dirty="0" err="1">
                <a:solidFill>
                  <a:srgbClr val="5C6E88"/>
                </a:solidFill>
                <a:latin typeface="DejaVu Sans Mono"/>
                <a:ea typeface="DejaVu Sans Mono"/>
              </a:rPr>
              <a:t>XiePeiyan</a:t>
            </a:r>
            <a:endParaRPr lang="en-US" altLang="zh-CN" sz="2500" b="0" dirty="0">
              <a:solidFill>
                <a:srgbClr val="5C6E88"/>
              </a:solidFill>
              <a:latin typeface="DejaVu Sans Mono"/>
              <a:ea typeface="DejaVu Sans Mono"/>
            </a:endParaRPr>
          </a:p>
          <a:p>
            <a:pPr algn="r"/>
            <a:r>
              <a:rPr lang="en-US" sz="2500" dirty="0">
                <a:solidFill>
                  <a:srgbClr val="5C6E88"/>
                </a:solidFill>
                <a:latin typeface="DejaVu Sans Mono"/>
                <a:ea typeface="DejaVu Sans Mono"/>
              </a:rPr>
              <a:t>Email : XiePeiyan7707@tongji.edu.cn</a:t>
            </a:r>
          </a:p>
          <a:p>
            <a:pPr algn="r"/>
            <a:r>
              <a:rPr lang="en-US" sz="2500" dirty="0" err="1">
                <a:solidFill>
                  <a:srgbClr val="5C6E88"/>
                </a:solidFill>
                <a:latin typeface="DejaVu Sans Mono"/>
                <a:ea typeface="DejaVu Sans Mono"/>
              </a:rPr>
              <a:t>Github</a:t>
            </a:r>
            <a:r>
              <a:rPr lang="en-US" sz="2500" dirty="0">
                <a:solidFill>
                  <a:srgbClr val="5C6E88"/>
                </a:solidFill>
                <a:latin typeface="DejaVu Sans Mono"/>
                <a:ea typeface="DejaVu Sans Mono"/>
              </a:rPr>
              <a:t> : </a:t>
            </a:r>
            <a:r>
              <a:rPr lang="en-US" sz="2500" dirty="0">
                <a:solidFill>
                  <a:srgbClr val="5C6E88"/>
                </a:solidFill>
                <a:latin typeface="DejaVu Sans Mono"/>
                <a:ea typeface="DejaVu Sans Mono"/>
                <a:hlinkClick r:id="rId8"/>
              </a:rPr>
              <a:t>https://github.com/StrongerOK777</a:t>
            </a:r>
            <a:endParaRPr lang="en-US" sz="2500" dirty="0">
              <a:solidFill>
                <a:srgbClr val="5C6E88"/>
              </a:solidFill>
              <a:latin typeface="DejaVu Sans Mono"/>
              <a:ea typeface="DejaVu Sans Mono"/>
            </a:endParaRPr>
          </a:p>
          <a:p>
            <a:pPr algn="r"/>
            <a:r>
              <a:rPr lang="en-US" sz="2500" b="0" dirty="0">
                <a:solidFill>
                  <a:srgbClr val="5C6E88"/>
                </a:solidFill>
                <a:latin typeface="DejaVu Sans Mono"/>
                <a:ea typeface="DejaVu Sans Mono"/>
              </a:rPr>
              <a:t>Learn </a:t>
            </a:r>
            <a:r>
              <a:rPr lang="en-US" sz="2500" dirty="0">
                <a:solidFill>
                  <a:srgbClr val="5C6E88"/>
                </a:solidFill>
                <a:latin typeface="DejaVu Sans Mono"/>
                <a:ea typeface="DejaVu Sans Mono"/>
              </a:rPr>
              <a:t>more : https://</a:t>
            </a:r>
            <a:r>
              <a:rPr lang="en-US" sz="2500" dirty="0" err="1">
                <a:solidFill>
                  <a:srgbClr val="5C6E88"/>
                </a:solidFill>
                <a:latin typeface="DejaVu Sans Mono"/>
                <a:ea typeface="DejaVu Sans Mono"/>
              </a:rPr>
              <a:t>github.com</a:t>
            </a:r>
            <a:r>
              <a:rPr lang="en-US" sz="2500" dirty="0">
                <a:solidFill>
                  <a:srgbClr val="5C6E88"/>
                </a:solidFill>
                <a:latin typeface="DejaVu Sans Mono"/>
                <a:ea typeface="DejaVu Sans Mono"/>
              </a:rPr>
              <a:t>/StrongerOK777/</a:t>
            </a:r>
            <a:r>
              <a:rPr lang="en-US" sz="2500" dirty="0" err="1">
                <a:solidFill>
                  <a:srgbClr val="5C6E88"/>
                </a:solidFill>
                <a:latin typeface="DejaVu Sans Mono"/>
                <a:ea typeface="DejaVu Sans Mono"/>
              </a:rPr>
              <a:t>QtBasedWorkFlow</a:t>
            </a:r>
            <a:endParaRPr sz="2500" b="0" dirty="0">
              <a:solidFill>
                <a:srgbClr val="5C6E88"/>
              </a:solidFill>
              <a:latin typeface="DejaVu Sans Mono"/>
              <a:ea typeface="DejaVu Sans Mono"/>
            </a:endParaRPr>
          </a:p>
        </p:txBody>
      </p:sp>
      <p:pic>
        <p:nvPicPr>
          <p:cNvPr id="163" name="图片 162">
            <a:extLst>
              <a:ext uri="{FF2B5EF4-FFF2-40B4-BE49-F238E27FC236}">
                <a16:creationId xmlns:a16="http://schemas.microsoft.com/office/drawing/2014/main" id="{2D3FD144-32D5-DDAB-9849-E85045BB47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84979" y="-8233"/>
            <a:ext cx="6247444" cy="4685583"/>
          </a:xfrm>
          <a:prstGeom prst="rect">
            <a:avLst/>
          </a:prstGeom>
        </p:spPr>
      </p:pic>
      <p:sp>
        <p:nvSpPr>
          <p:cNvPr id="164" name="文本框 163">
            <a:extLst>
              <a:ext uri="{FF2B5EF4-FFF2-40B4-BE49-F238E27FC236}">
                <a16:creationId xmlns:a16="http://schemas.microsoft.com/office/drawing/2014/main" id="{479FC810-63D5-C724-6040-3467FEAC1F86}"/>
              </a:ext>
            </a:extLst>
          </p:cNvPr>
          <p:cNvSpPr txBox="1"/>
          <p:nvPr/>
        </p:nvSpPr>
        <p:spPr>
          <a:xfrm>
            <a:off x="6744918" y="3602827"/>
            <a:ext cx="62155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5C6E88"/>
                </a:solidFill>
                <a:latin typeface="Libian SC" panose="02010600040101010101" pitchFamily="2" charset="-122"/>
                <a:ea typeface="Libian SC" panose="02010600040101010101" pitchFamily="2" charset="-122"/>
              </a:rPr>
              <a:t>我的短租工和我的代码</a:t>
            </a:r>
            <a:endParaRPr lang="en-US" altLang="zh-CN" sz="2800" dirty="0">
              <a:solidFill>
                <a:srgbClr val="5C6E88"/>
              </a:solidFill>
              <a:latin typeface="Libian SC" panose="02010600040101010101" pitchFamily="2" charset="-122"/>
              <a:ea typeface="Libian SC" panose="02010600040101010101" pitchFamily="2" charset="-122"/>
            </a:endParaRPr>
          </a:p>
          <a:p>
            <a:pPr algn="ctr"/>
            <a:r>
              <a:rPr lang="zh-CN" altLang="en-US" sz="2800" dirty="0">
                <a:solidFill>
                  <a:srgbClr val="5C6E88"/>
                </a:solidFill>
                <a:latin typeface="Libian SC" panose="02010600040101010101" pitchFamily="2" charset="-122"/>
                <a:ea typeface="Libian SC" panose="02010600040101010101" pitchFamily="2" charset="-122"/>
              </a:rPr>
              <a:t>（我在拍照🤓）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1113</Words>
  <Application>Microsoft Macintosh PowerPoint</Application>
  <PresentationFormat>自定义</PresentationFormat>
  <Paragraphs>135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DejaVu Sans Mono</vt:lpstr>
      <vt:lpstr>Libian SC</vt:lpstr>
      <vt:lpstr>Noto Sans CJK SC</vt:lpstr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Peiyan Xie</cp:lastModifiedBy>
  <cp:revision>18</cp:revision>
  <dcterms:created xsi:type="dcterms:W3CDTF">2013-01-27T09:14:16Z</dcterms:created>
  <dcterms:modified xsi:type="dcterms:W3CDTF">2026-06-22T03:37:04Z</dcterms:modified>
  <cp:category/>
</cp:coreProperties>
</file>